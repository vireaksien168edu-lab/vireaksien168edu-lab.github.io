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66"/>
  </p:notesMasterIdLst>
  <p:sldIdLst>
    <p:sldId id="256" r:id="rId2"/>
    <p:sldId id="329" r:id="rId3"/>
    <p:sldId id="330" r:id="rId4"/>
    <p:sldId id="332" r:id="rId5"/>
    <p:sldId id="390" r:id="rId6"/>
    <p:sldId id="391" r:id="rId7"/>
    <p:sldId id="333" r:id="rId8"/>
    <p:sldId id="334" r:id="rId9"/>
    <p:sldId id="331" r:id="rId10"/>
    <p:sldId id="335" r:id="rId11"/>
    <p:sldId id="336" r:id="rId12"/>
    <p:sldId id="337" r:id="rId13"/>
    <p:sldId id="339" r:id="rId14"/>
    <p:sldId id="340" r:id="rId15"/>
    <p:sldId id="341" r:id="rId16"/>
    <p:sldId id="342" r:id="rId17"/>
    <p:sldId id="343" r:id="rId18"/>
    <p:sldId id="338" r:id="rId19"/>
    <p:sldId id="344" r:id="rId20"/>
    <p:sldId id="345" r:id="rId21"/>
    <p:sldId id="347" r:id="rId22"/>
    <p:sldId id="348" r:id="rId23"/>
    <p:sldId id="349" r:id="rId24"/>
    <p:sldId id="350" r:id="rId25"/>
    <p:sldId id="351" r:id="rId26"/>
    <p:sldId id="352" r:id="rId27"/>
    <p:sldId id="353" r:id="rId28"/>
    <p:sldId id="354" r:id="rId29"/>
    <p:sldId id="346" r:id="rId30"/>
    <p:sldId id="355" r:id="rId31"/>
    <p:sldId id="358" r:id="rId32"/>
    <p:sldId id="359" r:id="rId33"/>
    <p:sldId id="356" r:id="rId34"/>
    <p:sldId id="357" r:id="rId35"/>
    <p:sldId id="360" r:id="rId36"/>
    <p:sldId id="362" r:id="rId37"/>
    <p:sldId id="363" r:id="rId38"/>
    <p:sldId id="361" r:id="rId39"/>
    <p:sldId id="364" r:id="rId40"/>
    <p:sldId id="366" r:id="rId41"/>
    <p:sldId id="367" r:id="rId42"/>
    <p:sldId id="365" r:id="rId43"/>
    <p:sldId id="368" r:id="rId44"/>
    <p:sldId id="369" r:id="rId45"/>
    <p:sldId id="370" r:id="rId46"/>
    <p:sldId id="371" r:id="rId47"/>
    <p:sldId id="372" r:id="rId48"/>
    <p:sldId id="373" r:id="rId49"/>
    <p:sldId id="374" r:id="rId50"/>
    <p:sldId id="375" r:id="rId51"/>
    <p:sldId id="376" r:id="rId52"/>
    <p:sldId id="377" r:id="rId53"/>
    <p:sldId id="378" r:id="rId54"/>
    <p:sldId id="379" r:id="rId55"/>
    <p:sldId id="381" r:id="rId56"/>
    <p:sldId id="380" r:id="rId57"/>
    <p:sldId id="382" r:id="rId58"/>
    <p:sldId id="383" r:id="rId59"/>
    <p:sldId id="385" r:id="rId60"/>
    <p:sldId id="386" r:id="rId61"/>
    <p:sldId id="384" r:id="rId62"/>
    <p:sldId id="387" r:id="rId63"/>
    <p:sldId id="388" r:id="rId64"/>
    <p:sldId id="389" r:id="rId65"/>
  </p:sldIdLst>
  <p:sldSz cx="9144000" cy="5143500" type="screen16x9"/>
  <p:notesSz cx="6858000" cy="9144000"/>
  <p:embeddedFontLst>
    <p:embeddedFont>
      <p:font typeface="Trebuchet MS" panose="020B0603020202020204" pitchFamily="34" charset="0"/>
      <p:regular r:id="rId67"/>
      <p:bold r:id="rId68"/>
      <p:italic r:id="rId69"/>
      <p:boldItalic r:id="rId70"/>
    </p:embeddedFont>
    <p:embeddedFont>
      <p:font typeface="Segoe UI Emoji" panose="020B0502040204020203" pitchFamily="34" charset="0"/>
      <p:regular r:id="rId71"/>
    </p:embeddedFont>
    <p:embeddedFont>
      <p:font typeface="Imprint MT Shadow" panose="04020605060303030202" pitchFamily="82" charset="0"/>
      <p:regular r:id="rId72"/>
    </p:embeddedFont>
    <p:embeddedFont>
      <p:font typeface="Khmer CN Samlot" panose="02000500000000020004" pitchFamily="2" charset="0"/>
      <p:regular r:id="rId73"/>
    </p:embeddedFont>
    <p:embeddedFont>
      <p:font typeface="Didact Gothic" panose="020B0604020202020204" charset="0"/>
      <p:regular r:id="rId74"/>
    </p:embeddedFont>
    <p:embeddedFont>
      <p:font typeface="Old Standard TT" panose="020B0604020202020204" charset="0"/>
      <p:regular r:id="rId75"/>
      <p:bold r:id="rId76"/>
      <p:italic r:id="rId77"/>
    </p:embeddedFont>
    <p:embeddedFont>
      <p:font typeface="Khmer OS Muol Light" panose="02000500000000020004" pitchFamily="2" charset="0"/>
      <p:regular r:id="rId78"/>
    </p:embeddedFont>
    <p:embeddedFont>
      <p:font typeface="Khmer OS Muol" panose="02000500000000020004" pitchFamily="2" charset="0"/>
      <p:regular r:id="rId79"/>
    </p:embeddedFont>
    <p:embeddedFont>
      <p:font typeface="DaunPenh" panose="01010101010101010101" pitchFamily="2" charset="0"/>
      <p:regular r:id="rId8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99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F5607E-079F-403E-8ECF-EE7FF130A6A5}">
  <a:tblStyle styleId="{DAF5607E-079F-403E-8ECF-EE7FF130A6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26" y="77"/>
      </p:cViewPr>
      <p:guideLst>
        <p:guide orient="horz" pos="15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8.fntdata"/><Relationship Id="rId79" Type="http://schemas.openxmlformats.org/officeDocument/2006/relationships/font" Target="fonts/font13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80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66428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1dd3286a6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1dd3286a6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7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829470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153967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52621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1023211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218794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84100" y="1479650"/>
            <a:ext cx="6175800" cy="16404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24250" y="3265350"/>
            <a:ext cx="5695500" cy="393600"/>
          </a:xfrm>
          <a:prstGeom prst="rect">
            <a:avLst/>
          </a:prstGeom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12" name="Google Shape;12;p2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rgbClr val="19191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18;p2"/>
          <p:cNvSpPr/>
          <p:nvPr/>
        </p:nvSpPr>
        <p:spPr>
          <a:xfrm>
            <a:off x="8712900" y="124175"/>
            <a:ext cx="273300" cy="273300"/>
          </a:xfrm>
          <a:prstGeom prst="star4">
            <a:avLst>
              <a:gd name="adj" fmla="val 125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81925" y="4751950"/>
            <a:ext cx="273300" cy="273300"/>
          </a:xfrm>
          <a:prstGeom prst="star4">
            <a:avLst>
              <a:gd name="adj" fmla="val 12500"/>
            </a:avLst>
          </a:pr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>
            <a:spLocks noGrp="1"/>
          </p:cNvSpPr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1" name="Google Shape;261;p23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62" name="Google Shape;262;p23"/>
            <p:cNvCxnSpPr/>
            <p:nvPr/>
          </p:nvCxnSpPr>
          <p:spPr>
            <a:xfrm>
              <a:off x="-21425" y="2571750"/>
              <a:ext cx="64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3" name="Google Shape;263;p23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23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5" name="Google Shape;265;p23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5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81" name="Google Shape;281;p25"/>
            <p:cNvCxnSpPr/>
            <p:nvPr/>
          </p:nvCxnSpPr>
          <p:spPr>
            <a:xfrm>
              <a:off x="-35700" y="4623597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25"/>
            <p:cNvCxnSpPr/>
            <p:nvPr/>
          </p:nvCxnSpPr>
          <p:spPr>
            <a:xfrm>
              <a:off x="8509900" y="2571750"/>
              <a:ext cx="636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25"/>
            <p:cNvCxnSpPr/>
            <p:nvPr/>
          </p:nvCxnSpPr>
          <p:spPr>
            <a:xfrm rot="5400000">
              <a:off x="5912100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4" name="Google Shape;284;p25"/>
          <p:cNvSpPr/>
          <p:nvPr/>
        </p:nvSpPr>
        <p:spPr>
          <a:xfrm>
            <a:off x="8712900" y="4751950"/>
            <a:ext cx="273300" cy="2733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26"/>
          <p:cNvGrpSpPr/>
          <p:nvPr/>
        </p:nvGrpSpPr>
        <p:grpSpPr>
          <a:xfrm>
            <a:off x="-35700" y="-30000"/>
            <a:ext cx="9215400" cy="5203500"/>
            <a:chOff x="-35700" y="-30000"/>
            <a:chExt cx="9215400" cy="5203500"/>
          </a:xfrm>
        </p:grpSpPr>
        <p:cxnSp>
          <p:nvCxnSpPr>
            <p:cNvPr id="287" name="Google Shape;287;p26"/>
            <p:cNvCxnSpPr/>
            <p:nvPr/>
          </p:nvCxnSpPr>
          <p:spPr>
            <a:xfrm>
              <a:off x="-21425" y="2571750"/>
              <a:ext cx="653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26"/>
            <p:cNvCxnSpPr/>
            <p:nvPr/>
          </p:nvCxnSpPr>
          <p:spPr>
            <a:xfrm>
              <a:off x="-35700" y="529972"/>
              <a:ext cx="921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9" name="Google Shape;289;p26"/>
            <p:cNvCxnSpPr/>
            <p:nvPr/>
          </p:nvCxnSpPr>
          <p:spPr>
            <a:xfrm rot="5400000">
              <a:off x="-1965275" y="2571750"/>
              <a:ext cx="5203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0" name="Google Shape;290;p26"/>
          <p:cNvSpPr/>
          <p:nvPr/>
        </p:nvSpPr>
        <p:spPr>
          <a:xfrm>
            <a:off x="181925" y="124175"/>
            <a:ext cx="273300" cy="2733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9" r:id="rId3"/>
    <p:sldLayoutId id="2147483671" r:id="rId4"/>
    <p:sldLayoutId id="214748367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hyperlink" Target="https://www.who.int/news-room/fact-sheets/detail/suicide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802;p43">
            <a:extLst>
              <a:ext uri="{FF2B5EF4-FFF2-40B4-BE49-F238E27FC236}">
                <a16:creationId xmlns:a16="http://schemas.microsoft.com/office/drawing/2014/main" id="{D5BF31DF-83E8-412C-88D8-0A6F18AB64B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3650" y="609600"/>
            <a:ext cx="113300" cy="113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808;p43">
            <a:extLst>
              <a:ext uri="{FF2B5EF4-FFF2-40B4-BE49-F238E27FC236}">
                <a16:creationId xmlns:a16="http://schemas.microsoft.com/office/drawing/2014/main" id="{CC530EF9-7DCF-4842-A491-1937A77EDF2A}"/>
              </a:ext>
            </a:extLst>
          </p:cNvPr>
          <p:cNvGrpSpPr/>
          <p:nvPr/>
        </p:nvGrpSpPr>
        <p:grpSpPr>
          <a:xfrm>
            <a:off x="649833" y="1698786"/>
            <a:ext cx="746824" cy="522075"/>
            <a:chOff x="3370900" y="1218500"/>
            <a:chExt cx="850650" cy="591600"/>
          </a:xfrm>
        </p:grpSpPr>
        <p:sp>
          <p:nvSpPr>
            <p:cNvPr id="22" name="Google Shape;809;p43">
              <a:extLst>
                <a:ext uri="{FF2B5EF4-FFF2-40B4-BE49-F238E27FC236}">
                  <a16:creationId xmlns:a16="http://schemas.microsoft.com/office/drawing/2014/main" id="{105A5AF3-5A56-45FD-AA22-F960ACBCCD59}"/>
                </a:ext>
              </a:extLst>
            </p:cNvPr>
            <p:cNvSpPr/>
            <p:nvPr/>
          </p:nvSpPr>
          <p:spPr>
            <a:xfrm>
              <a:off x="3370900" y="1378925"/>
              <a:ext cx="818125" cy="323600"/>
            </a:xfrm>
            <a:custGeom>
              <a:avLst/>
              <a:gdLst/>
              <a:ahLst/>
              <a:cxnLst/>
              <a:rect l="l" t="t" r="r" b="b"/>
              <a:pathLst>
                <a:path w="32725" h="12944" extrusionOk="0">
                  <a:moveTo>
                    <a:pt x="32724" y="1"/>
                  </a:moveTo>
                  <a:lnTo>
                    <a:pt x="17147" y="2569"/>
                  </a:lnTo>
                  <a:lnTo>
                    <a:pt x="1" y="12943"/>
                  </a:lnTo>
                  <a:lnTo>
                    <a:pt x="24485" y="11042"/>
                  </a:lnTo>
                  <a:lnTo>
                    <a:pt x="32724" y="1"/>
                  </a:lnTo>
                  <a:close/>
                </a:path>
              </a:pathLst>
            </a:custGeom>
            <a:solidFill>
              <a:srgbClr val="343C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/>
            </a:p>
          </p:txBody>
        </p:sp>
        <p:sp>
          <p:nvSpPr>
            <p:cNvPr id="23" name="Google Shape;810;p43">
              <a:extLst>
                <a:ext uri="{FF2B5EF4-FFF2-40B4-BE49-F238E27FC236}">
                  <a16:creationId xmlns:a16="http://schemas.microsoft.com/office/drawing/2014/main" id="{2E68EEBC-854A-43E9-BAD9-CA6D544FF7F5}"/>
                </a:ext>
              </a:extLst>
            </p:cNvPr>
            <p:cNvSpPr/>
            <p:nvPr/>
          </p:nvSpPr>
          <p:spPr>
            <a:xfrm>
              <a:off x="3638600" y="1480675"/>
              <a:ext cx="582950" cy="329425"/>
            </a:xfrm>
            <a:custGeom>
              <a:avLst/>
              <a:gdLst/>
              <a:ahLst/>
              <a:cxnLst/>
              <a:rect l="l" t="t" r="r" b="b"/>
              <a:pathLst>
                <a:path w="23318" h="13177" extrusionOk="0">
                  <a:moveTo>
                    <a:pt x="19314" y="0"/>
                  </a:moveTo>
                  <a:lnTo>
                    <a:pt x="14011" y="7439"/>
                  </a:lnTo>
                  <a:lnTo>
                    <a:pt x="1" y="8373"/>
                  </a:lnTo>
                  <a:lnTo>
                    <a:pt x="334" y="13176"/>
                  </a:lnTo>
                  <a:cubicBezTo>
                    <a:pt x="3525" y="11320"/>
                    <a:pt x="8490" y="10950"/>
                    <a:pt x="11763" y="10950"/>
                  </a:cubicBezTo>
                  <a:cubicBezTo>
                    <a:pt x="13724" y="10950"/>
                    <a:pt x="15078" y="11083"/>
                    <a:pt x="15078" y="11108"/>
                  </a:cubicBezTo>
                  <a:cubicBezTo>
                    <a:pt x="16612" y="7105"/>
                    <a:pt x="23317" y="2369"/>
                    <a:pt x="23317" y="2369"/>
                  </a:cubicBezTo>
                  <a:lnTo>
                    <a:pt x="19314" y="0"/>
                  </a:lnTo>
                  <a:close/>
                </a:path>
              </a:pathLst>
            </a:custGeom>
            <a:solidFill>
              <a:srgbClr val="343C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4" name="Google Shape;811;p43">
              <a:extLst>
                <a:ext uri="{FF2B5EF4-FFF2-40B4-BE49-F238E27FC236}">
                  <a16:creationId xmlns:a16="http://schemas.microsoft.com/office/drawing/2014/main" id="{D7DB8FA7-8BFE-4578-B10C-33CA877F60DD}"/>
                </a:ext>
              </a:extLst>
            </p:cNvPr>
            <p:cNvSpPr/>
            <p:nvPr/>
          </p:nvSpPr>
          <p:spPr>
            <a:xfrm>
              <a:off x="3836250" y="1260500"/>
              <a:ext cx="212675" cy="269850"/>
            </a:xfrm>
            <a:custGeom>
              <a:avLst/>
              <a:gdLst/>
              <a:ahLst/>
              <a:cxnLst/>
              <a:rect l="l" t="t" r="r" b="b"/>
              <a:pathLst>
                <a:path w="8507" h="10794" extrusionOk="0">
                  <a:moveTo>
                    <a:pt x="8293" y="1"/>
                  </a:moveTo>
                  <a:cubicBezTo>
                    <a:pt x="7784" y="1"/>
                    <a:pt x="3367" y="91"/>
                    <a:pt x="2702" y="3604"/>
                  </a:cubicBezTo>
                  <a:cubicBezTo>
                    <a:pt x="2035" y="7139"/>
                    <a:pt x="34" y="10475"/>
                    <a:pt x="34" y="10508"/>
                  </a:cubicBezTo>
                  <a:cubicBezTo>
                    <a:pt x="0" y="10609"/>
                    <a:pt x="0" y="10742"/>
                    <a:pt x="100" y="10775"/>
                  </a:cubicBezTo>
                  <a:cubicBezTo>
                    <a:pt x="123" y="10786"/>
                    <a:pt x="145" y="10794"/>
                    <a:pt x="168" y="10794"/>
                  </a:cubicBezTo>
                  <a:cubicBezTo>
                    <a:pt x="215" y="10794"/>
                    <a:pt x="267" y="10764"/>
                    <a:pt x="334" y="10675"/>
                  </a:cubicBezTo>
                  <a:cubicBezTo>
                    <a:pt x="334" y="10675"/>
                    <a:pt x="2369" y="7306"/>
                    <a:pt x="3036" y="3670"/>
                  </a:cubicBezTo>
                  <a:cubicBezTo>
                    <a:pt x="3635" y="424"/>
                    <a:pt x="7778" y="334"/>
                    <a:pt x="8289" y="334"/>
                  </a:cubicBezTo>
                  <a:cubicBezTo>
                    <a:pt x="8318" y="334"/>
                    <a:pt x="8336" y="335"/>
                    <a:pt x="8340" y="335"/>
                  </a:cubicBezTo>
                  <a:cubicBezTo>
                    <a:pt x="8406" y="335"/>
                    <a:pt x="8506" y="268"/>
                    <a:pt x="8506" y="168"/>
                  </a:cubicBezTo>
                  <a:cubicBezTo>
                    <a:pt x="8506" y="101"/>
                    <a:pt x="8406" y="1"/>
                    <a:pt x="8340" y="1"/>
                  </a:cubicBezTo>
                  <a:cubicBezTo>
                    <a:pt x="8336" y="1"/>
                    <a:pt x="8320" y="1"/>
                    <a:pt x="82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5" name="Google Shape;812;p43">
              <a:extLst>
                <a:ext uri="{FF2B5EF4-FFF2-40B4-BE49-F238E27FC236}">
                  <a16:creationId xmlns:a16="http://schemas.microsoft.com/office/drawing/2014/main" id="{3FF3FD74-684D-49E9-8B51-7E49164BE9EB}"/>
                </a:ext>
              </a:extLst>
            </p:cNvPr>
            <p:cNvSpPr/>
            <p:nvPr/>
          </p:nvSpPr>
          <p:spPr>
            <a:xfrm>
              <a:off x="4038050" y="1251100"/>
              <a:ext cx="66750" cy="49475"/>
            </a:xfrm>
            <a:custGeom>
              <a:avLst/>
              <a:gdLst/>
              <a:ahLst/>
              <a:cxnLst/>
              <a:rect l="l" t="t" r="r" b="b"/>
              <a:pathLst>
                <a:path w="2670" h="1979" extrusionOk="0">
                  <a:moveTo>
                    <a:pt x="1337" y="1"/>
                  </a:moveTo>
                  <a:cubicBezTo>
                    <a:pt x="736" y="1"/>
                    <a:pt x="149" y="175"/>
                    <a:pt x="101" y="844"/>
                  </a:cubicBezTo>
                  <a:cubicBezTo>
                    <a:pt x="1" y="1978"/>
                    <a:pt x="2002" y="1978"/>
                    <a:pt x="2002" y="1978"/>
                  </a:cubicBezTo>
                  <a:lnTo>
                    <a:pt x="2669" y="210"/>
                  </a:lnTo>
                  <a:cubicBezTo>
                    <a:pt x="2669" y="210"/>
                    <a:pt x="1995" y="1"/>
                    <a:pt x="1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6" name="Google Shape;813;p43">
              <a:extLst>
                <a:ext uri="{FF2B5EF4-FFF2-40B4-BE49-F238E27FC236}">
                  <a16:creationId xmlns:a16="http://schemas.microsoft.com/office/drawing/2014/main" id="{02EA3AA4-AB8A-40CF-8E11-D2F279E7D89B}"/>
                </a:ext>
              </a:extLst>
            </p:cNvPr>
            <p:cNvSpPr/>
            <p:nvPr/>
          </p:nvSpPr>
          <p:spPr>
            <a:xfrm>
              <a:off x="3799550" y="1500600"/>
              <a:ext cx="93425" cy="57650"/>
            </a:xfrm>
            <a:custGeom>
              <a:avLst/>
              <a:gdLst/>
              <a:ahLst/>
              <a:cxnLst/>
              <a:rect l="l" t="t" r="r" b="b"/>
              <a:pathLst>
                <a:path w="3737" h="2306" extrusionOk="0">
                  <a:moveTo>
                    <a:pt x="1708" y="0"/>
                  </a:moveTo>
                  <a:cubicBezTo>
                    <a:pt x="1567" y="0"/>
                    <a:pt x="1440" y="13"/>
                    <a:pt x="1335" y="37"/>
                  </a:cubicBezTo>
                  <a:cubicBezTo>
                    <a:pt x="801" y="137"/>
                    <a:pt x="1" y="738"/>
                    <a:pt x="201" y="1338"/>
                  </a:cubicBezTo>
                  <a:cubicBezTo>
                    <a:pt x="401" y="1905"/>
                    <a:pt x="1402" y="2305"/>
                    <a:pt x="1969" y="2305"/>
                  </a:cubicBezTo>
                  <a:cubicBezTo>
                    <a:pt x="2669" y="2305"/>
                    <a:pt x="3737" y="1271"/>
                    <a:pt x="3403" y="671"/>
                  </a:cubicBezTo>
                  <a:cubicBezTo>
                    <a:pt x="3185" y="236"/>
                    <a:pt x="2325" y="0"/>
                    <a:pt x="1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7" name="Google Shape;814;p43">
              <a:extLst>
                <a:ext uri="{FF2B5EF4-FFF2-40B4-BE49-F238E27FC236}">
                  <a16:creationId xmlns:a16="http://schemas.microsoft.com/office/drawing/2014/main" id="{AA700B42-FDA3-4D86-9368-DD94E6826232}"/>
                </a:ext>
              </a:extLst>
            </p:cNvPr>
            <p:cNvSpPr/>
            <p:nvPr/>
          </p:nvSpPr>
          <p:spPr>
            <a:xfrm>
              <a:off x="4093925" y="1240500"/>
              <a:ext cx="75075" cy="30050"/>
            </a:xfrm>
            <a:custGeom>
              <a:avLst/>
              <a:gdLst/>
              <a:ahLst/>
              <a:cxnLst/>
              <a:rect l="l" t="t" r="r" b="b"/>
              <a:pathLst>
                <a:path w="3003" h="1202" extrusionOk="0">
                  <a:moveTo>
                    <a:pt x="2803" y="0"/>
                  </a:moveTo>
                  <a:cubicBezTo>
                    <a:pt x="2402" y="67"/>
                    <a:pt x="1969" y="267"/>
                    <a:pt x="1602" y="434"/>
                  </a:cubicBezTo>
                  <a:cubicBezTo>
                    <a:pt x="1168" y="634"/>
                    <a:pt x="768" y="834"/>
                    <a:pt x="301" y="834"/>
                  </a:cubicBezTo>
                  <a:cubicBezTo>
                    <a:pt x="267" y="801"/>
                    <a:pt x="201" y="801"/>
                    <a:pt x="134" y="801"/>
                  </a:cubicBezTo>
                  <a:cubicBezTo>
                    <a:pt x="67" y="834"/>
                    <a:pt x="1" y="934"/>
                    <a:pt x="1" y="1034"/>
                  </a:cubicBezTo>
                  <a:cubicBezTo>
                    <a:pt x="1" y="1101"/>
                    <a:pt x="67" y="1135"/>
                    <a:pt x="134" y="1201"/>
                  </a:cubicBezTo>
                  <a:cubicBezTo>
                    <a:pt x="201" y="1201"/>
                    <a:pt x="201" y="1201"/>
                    <a:pt x="267" y="1135"/>
                  </a:cubicBezTo>
                  <a:cubicBezTo>
                    <a:pt x="302" y="1137"/>
                    <a:pt x="337" y="1138"/>
                    <a:pt x="371" y="1138"/>
                  </a:cubicBezTo>
                  <a:cubicBezTo>
                    <a:pt x="866" y="1138"/>
                    <a:pt x="1334" y="921"/>
                    <a:pt x="1802" y="734"/>
                  </a:cubicBezTo>
                  <a:cubicBezTo>
                    <a:pt x="2169" y="567"/>
                    <a:pt x="2502" y="401"/>
                    <a:pt x="2903" y="334"/>
                  </a:cubicBezTo>
                  <a:cubicBezTo>
                    <a:pt x="2969" y="301"/>
                    <a:pt x="3003" y="234"/>
                    <a:pt x="3003" y="134"/>
                  </a:cubicBezTo>
                  <a:cubicBezTo>
                    <a:pt x="2969" y="67"/>
                    <a:pt x="2903" y="0"/>
                    <a:pt x="28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8" name="Google Shape;815;p43">
              <a:extLst>
                <a:ext uri="{FF2B5EF4-FFF2-40B4-BE49-F238E27FC236}">
                  <a16:creationId xmlns:a16="http://schemas.microsoft.com/office/drawing/2014/main" id="{F476243A-84C7-4F09-88EE-EA8EAA24A8E8}"/>
                </a:ext>
              </a:extLst>
            </p:cNvPr>
            <p:cNvSpPr/>
            <p:nvPr/>
          </p:nvSpPr>
          <p:spPr>
            <a:xfrm>
              <a:off x="4088925" y="1264525"/>
              <a:ext cx="73400" cy="13800"/>
            </a:xfrm>
            <a:custGeom>
              <a:avLst/>
              <a:gdLst/>
              <a:ahLst/>
              <a:cxnLst/>
              <a:rect l="l" t="t" r="r" b="b"/>
              <a:pathLst>
                <a:path w="2936" h="552" extrusionOk="0">
                  <a:moveTo>
                    <a:pt x="2595" y="0"/>
                  </a:moveTo>
                  <a:cubicBezTo>
                    <a:pt x="2234" y="0"/>
                    <a:pt x="1909" y="83"/>
                    <a:pt x="1535" y="140"/>
                  </a:cubicBezTo>
                  <a:cubicBezTo>
                    <a:pt x="1246" y="212"/>
                    <a:pt x="975" y="267"/>
                    <a:pt x="696" y="267"/>
                  </a:cubicBezTo>
                  <a:cubicBezTo>
                    <a:pt x="588" y="267"/>
                    <a:pt x="479" y="259"/>
                    <a:pt x="367" y="240"/>
                  </a:cubicBezTo>
                  <a:cubicBezTo>
                    <a:pt x="334" y="174"/>
                    <a:pt x="301" y="140"/>
                    <a:pt x="201" y="140"/>
                  </a:cubicBezTo>
                  <a:cubicBezTo>
                    <a:pt x="134" y="140"/>
                    <a:pt x="67" y="240"/>
                    <a:pt x="67" y="307"/>
                  </a:cubicBezTo>
                  <a:cubicBezTo>
                    <a:pt x="0" y="407"/>
                    <a:pt x="101" y="474"/>
                    <a:pt x="167" y="507"/>
                  </a:cubicBezTo>
                  <a:cubicBezTo>
                    <a:pt x="334" y="540"/>
                    <a:pt x="501" y="552"/>
                    <a:pt x="665" y="552"/>
                  </a:cubicBezTo>
                  <a:cubicBezTo>
                    <a:pt x="994" y="552"/>
                    <a:pt x="1313" y="507"/>
                    <a:pt x="1602" y="507"/>
                  </a:cubicBezTo>
                  <a:cubicBezTo>
                    <a:pt x="1909" y="456"/>
                    <a:pt x="2177" y="385"/>
                    <a:pt x="2451" y="385"/>
                  </a:cubicBezTo>
                  <a:cubicBezTo>
                    <a:pt x="2534" y="385"/>
                    <a:pt x="2617" y="392"/>
                    <a:pt x="2702" y="407"/>
                  </a:cubicBezTo>
                  <a:cubicBezTo>
                    <a:pt x="2836" y="407"/>
                    <a:pt x="2936" y="307"/>
                    <a:pt x="2936" y="240"/>
                  </a:cubicBezTo>
                  <a:cubicBezTo>
                    <a:pt x="2936" y="107"/>
                    <a:pt x="2836" y="7"/>
                    <a:pt x="2769" y="7"/>
                  </a:cubicBezTo>
                  <a:cubicBezTo>
                    <a:pt x="2710" y="2"/>
                    <a:pt x="2652" y="0"/>
                    <a:pt x="25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9" name="Google Shape;816;p43">
              <a:extLst>
                <a:ext uri="{FF2B5EF4-FFF2-40B4-BE49-F238E27FC236}">
                  <a16:creationId xmlns:a16="http://schemas.microsoft.com/office/drawing/2014/main" id="{0E435E22-B9F2-4803-BB88-DDF33C31C77E}"/>
                </a:ext>
              </a:extLst>
            </p:cNvPr>
            <p:cNvSpPr/>
            <p:nvPr/>
          </p:nvSpPr>
          <p:spPr>
            <a:xfrm>
              <a:off x="4088100" y="1269975"/>
              <a:ext cx="80075" cy="23075"/>
            </a:xfrm>
            <a:custGeom>
              <a:avLst/>
              <a:gdLst/>
              <a:ahLst/>
              <a:cxnLst/>
              <a:rect l="l" t="t" r="r" b="b"/>
              <a:pathLst>
                <a:path w="3203" h="923" extrusionOk="0">
                  <a:moveTo>
                    <a:pt x="218" y="0"/>
                  </a:moveTo>
                  <a:cubicBezTo>
                    <a:pt x="200" y="0"/>
                    <a:pt x="182" y="7"/>
                    <a:pt x="167" y="22"/>
                  </a:cubicBezTo>
                  <a:cubicBezTo>
                    <a:pt x="100" y="56"/>
                    <a:pt x="0" y="122"/>
                    <a:pt x="33" y="222"/>
                  </a:cubicBezTo>
                  <a:cubicBezTo>
                    <a:pt x="100" y="423"/>
                    <a:pt x="234" y="589"/>
                    <a:pt x="500" y="723"/>
                  </a:cubicBezTo>
                  <a:cubicBezTo>
                    <a:pt x="534" y="723"/>
                    <a:pt x="567" y="756"/>
                    <a:pt x="634" y="756"/>
                  </a:cubicBezTo>
                  <a:cubicBezTo>
                    <a:pt x="1001" y="923"/>
                    <a:pt x="1468" y="923"/>
                    <a:pt x="1801" y="923"/>
                  </a:cubicBezTo>
                  <a:lnTo>
                    <a:pt x="2068" y="923"/>
                  </a:lnTo>
                  <a:cubicBezTo>
                    <a:pt x="2291" y="923"/>
                    <a:pt x="2498" y="908"/>
                    <a:pt x="2701" y="908"/>
                  </a:cubicBezTo>
                  <a:cubicBezTo>
                    <a:pt x="2802" y="908"/>
                    <a:pt x="2902" y="912"/>
                    <a:pt x="3002" y="923"/>
                  </a:cubicBezTo>
                  <a:cubicBezTo>
                    <a:pt x="3136" y="923"/>
                    <a:pt x="3202" y="856"/>
                    <a:pt x="3202" y="756"/>
                  </a:cubicBezTo>
                  <a:cubicBezTo>
                    <a:pt x="3202" y="623"/>
                    <a:pt x="3136" y="556"/>
                    <a:pt x="3036" y="556"/>
                  </a:cubicBezTo>
                  <a:cubicBezTo>
                    <a:pt x="2886" y="539"/>
                    <a:pt x="2727" y="531"/>
                    <a:pt x="2564" y="531"/>
                  </a:cubicBezTo>
                  <a:cubicBezTo>
                    <a:pt x="2402" y="531"/>
                    <a:pt x="2235" y="539"/>
                    <a:pt x="2068" y="556"/>
                  </a:cubicBezTo>
                  <a:lnTo>
                    <a:pt x="1801" y="556"/>
                  </a:lnTo>
                  <a:cubicBezTo>
                    <a:pt x="1401" y="556"/>
                    <a:pt x="1034" y="556"/>
                    <a:pt x="667" y="389"/>
                  </a:cubicBezTo>
                  <a:cubicBezTo>
                    <a:pt x="567" y="356"/>
                    <a:pt x="434" y="256"/>
                    <a:pt x="367" y="122"/>
                  </a:cubicBezTo>
                  <a:cubicBezTo>
                    <a:pt x="341" y="71"/>
                    <a:pt x="277" y="0"/>
                    <a:pt x="2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0" name="Google Shape;817;p43">
              <a:extLst>
                <a:ext uri="{FF2B5EF4-FFF2-40B4-BE49-F238E27FC236}">
                  <a16:creationId xmlns:a16="http://schemas.microsoft.com/office/drawing/2014/main" id="{67D58E8C-0C75-434E-946F-60AEB61A45DE}"/>
                </a:ext>
              </a:extLst>
            </p:cNvPr>
            <p:cNvSpPr/>
            <p:nvPr/>
          </p:nvSpPr>
          <p:spPr>
            <a:xfrm>
              <a:off x="4083075" y="1292725"/>
              <a:ext cx="45900" cy="57050"/>
            </a:xfrm>
            <a:custGeom>
              <a:avLst/>
              <a:gdLst/>
              <a:ahLst/>
              <a:cxnLst/>
              <a:rect l="l" t="t" r="r" b="b"/>
              <a:pathLst>
                <a:path w="1836" h="2282" extrusionOk="0">
                  <a:moveTo>
                    <a:pt x="170" y="0"/>
                  </a:moveTo>
                  <a:cubicBezTo>
                    <a:pt x="149" y="0"/>
                    <a:pt x="126" y="5"/>
                    <a:pt x="101" y="13"/>
                  </a:cubicBezTo>
                  <a:cubicBezTo>
                    <a:pt x="34" y="46"/>
                    <a:pt x="1" y="146"/>
                    <a:pt x="34" y="213"/>
                  </a:cubicBezTo>
                  <a:cubicBezTo>
                    <a:pt x="68" y="346"/>
                    <a:pt x="201" y="413"/>
                    <a:pt x="301" y="513"/>
                  </a:cubicBezTo>
                  <a:cubicBezTo>
                    <a:pt x="368" y="547"/>
                    <a:pt x="468" y="647"/>
                    <a:pt x="535" y="680"/>
                  </a:cubicBezTo>
                  <a:cubicBezTo>
                    <a:pt x="735" y="847"/>
                    <a:pt x="968" y="1014"/>
                    <a:pt x="1135" y="1180"/>
                  </a:cubicBezTo>
                  <a:cubicBezTo>
                    <a:pt x="1269" y="1314"/>
                    <a:pt x="1535" y="1647"/>
                    <a:pt x="1502" y="2014"/>
                  </a:cubicBezTo>
                  <a:cubicBezTo>
                    <a:pt x="1502" y="2114"/>
                    <a:pt x="1535" y="2148"/>
                    <a:pt x="1602" y="2181"/>
                  </a:cubicBezTo>
                  <a:cubicBezTo>
                    <a:pt x="1669" y="2181"/>
                    <a:pt x="1669" y="2181"/>
                    <a:pt x="1602" y="2281"/>
                  </a:cubicBezTo>
                  <a:cubicBezTo>
                    <a:pt x="1702" y="2281"/>
                    <a:pt x="1769" y="2181"/>
                    <a:pt x="1769" y="2114"/>
                  </a:cubicBezTo>
                  <a:cubicBezTo>
                    <a:pt x="1836" y="1714"/>
                    <a:pt x="1669" y="1314"/>
                    <a:pt x="1335" y="980"/>
                  </a:cubicBezTo>
                  <a:cubicBezTo>
                    <a:pt x="1168" y="780"/>
                    <a:pt x="902" y="613"/>
                    <a:pt x="701" y="447"/>
                  </a:cubicBezTo>
                  <a:cubicBezTo>
                    <a:pt x="668" y="380"/>
                    <a:pt x="568" y="313"/>
                    <a:pt x="501" y="280"/>
                  </a:cubicBezTo>
                  <a:cubicBezTo>
                    <a:pt x="401" y="213"/>
                    <a:pt x="368" y="146"/>
                    <a:pt x="335" y="113"/>
                  </a:cubicBezTo>
                  <a:cubicBezTo>
                    <a:pt x="285" y="38"/>
                    <a:pt x="234" y="0"/>
                    <a:pt x="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1" name="Google Shape;818;p43">
              <a:extLst>
                <a:ext uri="{FF2B5EF4-FFF2-40B4-BE49-F238E27FC236}">
                  <a16:creationId xmlns:a16="http://schemas.microsoft.com/office/drawing/2014/main" id="{A316378B-9247-4BE3-ACE9-F4356611AA3A}"/>
                </a:ext>
              </a:extLst>
            </p:cNvPr>
            <p:cNvSpPr/>
            <p:nvPr/>
          </p:nvSpPr>
          <p:spPr>
            <a:xfrm>
              <a:off x="4092250" y="1218500"/>
              <a:ext cx="53400" cy="45025"/>
            </a:xfrm>
            <a:custGeom>
              <a:avLst/>
              <a:gdLst/>
              <a:ahLst/>
              <a:cxnLst/>
              <a:rect l="l" t="t" r="r" b="b"/>
              <a:pathLst>
                <a:path w="2136" h="1801" extrusionOk="0">
                  <a:moveTo>
                    <a:pt x="1948" y="1"/>
                  </a:moveTo>
                  <a:cubicBezTo>
                    <a:pt x="1890" y="1"/>
                    <a:pt x="1827" y="38"/>
                    <a:pt x="1802" y="113"/>
                  </a:cubicBezTo>
                  <a:cubicBezTo>
                    <a:pt x="1502" y="747"/>
                    <a:pt x="868" y="1247"/>
                    <a:pt x="168" y="1447"/>
                  </a:cubicBezTo>
                  <a:cubicBezTo>
                    <a:pt x="101" y="1481"/>
                    <a:pt x="1" y="1581"/>
                    <a:pt x="34" y="1648"/>
                  </a:cubicBezTo>
                  <a:cubicBezTo>
                    <a:pt x="34" y="1748"/>
                    <a:pt x="68" y="1781"/>
                    <a:pt x="134" y="1781"/>
                  </a:cubicBezTo>
                  <a:cubicBezTo>
                    <a:pt x="147" y="1793"/>
                    <a:pt x="159" y="1801"/>
                    <a:pt x="173" y="1801"/>
                  </a:cubicBezTo>
                  <a:cubicBezTo>
                    <a:pt x="197" y="1801"/>
                    <a:pt x="225" y="1778"/>
                    <a:pt x="268" y="1714"/>
                  </a:cubicBezTo>
                  <a:cubicBezTo>
                    <a:pt x="1035" y="1514"/>
                    <a:pt x="1702" y="980"/>
                    <a:pt x="2069" y="247"/>
                  </a:cubicBezTo>
                  <a:cubicBezTo>
                    <a:pt x="2136" y="147"/>
                    <a:pt x="2069" y="46"/>
                    <a:pt x="2002" y="13"/>
                  </a:cubicBezTo>
                  <a:cubicBezTo>
                    <a:pt x="1986" y="5"/>
                    <a:pt x="1967" y="1"/>
                    <a:pt x="19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32" name="Google Shape;819;p43">
              <a:extLst>
                <a:ext uri="{FF2B5EF4-FFF2-40B4-BE49-F238E27FC236}">
                  <a16:creationId xmlns:a16="http://schemas.microsoft.com/office/drawing/2014/main" id="{E5C3F0D8-9792-4CF7-829F-EA3F4CF5E5DD}"/>
                </a:ext>
              </a:extLst>
            </p:cNvPr>
            <p:cNvSpPr/>
            <p:nvPr/>
          </p:nvSpPr>
          <p:spPr>
            <a:xfrm>
              <a:off x="4083925" y="1281150"/>
              <a:ext cx="67575" cy="36925"/>
            </a:xfrm>
            <a:custGeom>
              <a:avLst/>
              <a:gdLst/>
              <a:ahLst/>
              <a:cxnLst/>
              <a:rect l="l" t="t" r="r" b="b"/>
              <a:pathLst>
                <a:path w="2703" h="1477" extrusionOk="0">
                  <a:moveTo>
                    <a:pt x="217" y="1"/>
                  </a:moveTo>
                  <a:cubicBezTo>
                    <a:pt x="175" y="1"/>
                    <a:pt x="134" y="26"/>
                    <a:pt x="100" y="76"/>
                  </a:cubicBezTo>
                  <a:cubicBezTo>
                    <a:pt x="0" y="142"/>
                    <a:pt x="0" y="242"/>
                    <a:pt x="100" y="309"/>
                  </a:cubicBezTo>
                  <a:cubicBezTo>
                    <a:pt x="501" y="676"/>
                    <a:pt x="1001" y="976"/>
                    <a:pt x="1501" y="1176"/>
                  </a:cubicBezTo>
                  <a:cubicBezTo>
                    <a:pt x="1835" y="1310"/>
                    <a:pt x="2169" y="1410"/>
                    <a:pt x="2502" y="1477"/>
                  </a:cubicBezTo>
                  <a:cubicBezTo>
                    <a:pt x="2636" y="1477"/>
                    <a:pt x="2702" y="1410"/>
                    <a:pt x="2702" y="1310"/>
                  </a:cubicBezTo>
                  <a:cubicBezTo>
                    <a:pt x="2702" y="1176"/>
                    <a:pt x="2636" y="1110"/>
                    <a:pt x="2535" y="1110"/>
                  </a:cubicBezTo>
                  <a:cubicBezTo>
                    <a:pt x="1702" y="1010"/>
                    <a:pt x="968" y="643"/>
                    <a:pt x="334" y="76"/>
                  </a:cubicBezTo>
                  <a:cubicBezTo>
                    <a:pt x="301" y="26"/>
                    <a:pt x="259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33" name="Google Shape;390;p56">
            <a:extLst>
              <a:ext uri="{FF2B5EF4-FFF2-40B4-BE49-F238E27FC236}">
                <a16:creationId xmlns:a16="http://schemas.microsoft.com/office/drawing/2014/main" id="{89F6A0BD-8853-495D-9343-916427E0C6E2}"/>
              </a:ext>
            </a:extLst>
          </p:cNvPr>
          <p:cNvSpPr/>
          <p:nvPr/>
        </p:nvSpPr>
        <p:spPr>
          <a:xfrm>
            <a:off x="3464759" y="990086"/>
            <a:ext cx="2214482" cy="2197458"/>
          </a:xfrm>
          <a:prstGeom prst="ellipse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35" name="Google Shape;391;p56">
            <a:extLst>
              <a:ext uri="{FF2B5EF4-FFF2-40B4-BE49-F238E27FC236}">
                <a16:creationId xmlns:a16="http://schemas.microsoft.com/office/drawing/2014/main" id="{08F206EB-1E3D-401A-B9D1-354618F0FF78}"/>
              </a:ext>
            </a:extLst>
          </p:cNvPr>
          <p:cNvSpPr/>
          <p:nvPr/>
        </p:nvSpPr>
        <p:spPr>
          <a:xfrm>
            <a:off x="4161298" y="1622500"/>
            <a:ext cx="821403" cy="960313"/>
          </a:xfrm>
          <a:custGeom>
            <a:avLst/>
            <a:gdLst/>
            <a:ahLst/>
            <a:cxnLst/>
            <a:rect l="l" t="t" r="r" b="b"/>
            <a:pathLst>
              <a:path w="203711" h="208770" extrusionOk="0">
                <a:moveTo>
                  <a:pt x="82480" y="60649"/>
                </a:moveTo>
                <a:cubicBezTo>
                  <a:pt x="82435" y="60966"/>
                  <a:pt x="82435" y="61283"/>
                  <a:pt x="82435" y="61600"/>
                </a:cubicBezTo>
                <a:cubicBezTo>
                  <a:pt x="82435" y="66217"/>
                  <a:pt x="85287" y="70156"/>
                  <a:pt x="89361" y="71740"/>
                </a:cubicBezTo>
                <a:lnTo>
                  <a:pt x="89361" y="156393"/>
                </a:lnTo>
                <a:cubicBezTo>
                  <a:pt x="85287" y="157978"/>
                  <a:pt x="82435" y="161916"/>
                  <a:pt x="82435" y="166533"/>
                </a:cubicBezTo>
                <a:cubicBezTo>
                  <a:pt x="82435" y="166715"/>
                  <a:pt x="82435" y="166850"/>
                  <a:pt x="82435" y="166986"/>
                </a:cubicBezTo>
                <a:lnTo>
                  <a:pt x="58804" y="166986"/>
                </a:lnTo>
                <a:cubicBezTo>
                  <a:pt x="58804" y="166850"/>
                  <a:pt x="58804" y="166715"/>
                  <a:pt x="58804" y="166533"/>
                </a:cubicBezTo>
                <a:cubicBezTo>
                  <a:pt x="58804" y="161916"/>
                  <a:pt x="55907" y="157978"/>
                  <a:pt x="51833" y="156439"/>
                </a:cubicBezTo>
                <a:lnTo>
                  <a:pt x="51833" y="71740"/>
                </a:lnTo>
                <a:cubicBezTo>
                  <a:pt x="55907" y="70156"/>
                  <a:pt x="58804" y="66217"/>
                  <a:pt x="58804" y="61600"/>
                </a:cubicBezTo>
                <a:cubicBezTo>
                  <a:pt x="58804" y="61283"/>
                  <a:pt x="58804" y="60966"/>
                  <a:pt x="58759" y="60649"/>
                </a:cubicBezTo>
                <a:close/>
                <a:moveTo>
                  <a:pt x="144951" y="60649"/>
                </a:moveTo>
                <a:cubicBezTo>
                  <a:pt x="144906" y="60966"/>
                  <a:pt x="144906" y="61283"/>
                  <a:pt x="144906" y="61600"/>
                </a:cubicBezTo>
                <a:cubicBezTo>
                  <a:pt x="144906" y="66217"/>
                  <a:pt x="147758" y="70156"/>
                  <a:pt x="151832" y="71740"/>
                </a:cubicBezTo>
                <a:lnTo>
                  <a:pt x="151832" y="156393"/>
                </a:lnTo>
                <a:cubicBezTo>
                  <a:pt x="147803" y="157978"/>
                  <a:pt x="144906" y="161916"/>
                  <a:pt x="144906" y="166533"/>
                </a:cubicBezTo>
                <a:cubicBezTo>
                  <a:pt x="144906" y="166715"/>
                  <a:pt x="144906" y="166850"/>
                  <a:pt x="144906" y="166986"/>
                </a:cubicBezTo>
                <a:lnTo>
                  <a:pt x="121276" y="166986"/>
                </a:lnTo>
                <a:cubicBezTo>
                  <a:pt x="121276" y="166850"/>
                  <a:pt x="121276" y="166715"/>
                  <a:pt x="121276" y="166533"/>
                </a:cubicBezTo>
                <a:cubicBezTo>
                  <a:pt x="121276" y="161916"/>
                  <a:pt x="118424" y="157978"/>
                  <a:pt x="114349" y="156439"/>
                </a:cubicBezTo>
                <a:lnTo>
                  <a:pt x="114349" y="71740"/>
                </a:lnTo>
                <a:cubicBezTo>
                  <a:pt x="118424" y="70156"/>
                  <a:pt x="121276" y="66217"/>
                  <a:pt x="121276" y="61600"/>
                </a:cubicBezTo>
                <a:cubicBezTo>
                  <a:pt x="121276" y="61283"/>
                  <a:pt x="121276" y="60966"/>
                  <a:pt x="121230" y="60649"/>
                </a:cubicBezTo>
                <a:close/>
                <a:moveTo>
                  <a:pt x="101855" y="0"/>
                </a:moveTo>
                <a:cubicBezTo>
                  <a:pt x="101154" y="0"/>
                  <a:pt x="100452" y="102"/>
                  <a:pt x="99773" y="306"/>
                </a:cubicBezTo>
                <a:lnTo>
                  <a:pt x="10593" y="28282"/>
                </a:lnTo>
                <a:cubicBezTo>
                  <a:pt x="7741" y="29187"/>
                  <a:pt x="5794" y="31858"/>
                  <a:pt x="5794" y="34891"/>
                </a:cubicBezTo>
                <a:lnTo>
                  <a:pt x="5794" y="53769"/>
                </a:lnTo>
                <a:cubicBezTo>
                  <a:pt x="5794" y="57571"/>
                  <a:pt x="8873" y="60649"/>
                  <a:pt x="12675" y="60649"/>
                </a:cubicBezTo>
                <a:lnTo>
                  <a:pt x="19964" y="60649"/>
                </a:lnTo>
                <a:cubicBezTo>
                  <a:pt x="19964" y="60966"/>
                  <a:pt x="19918" y="61283"/>
                  <a:pt x="19918" y="61600"/>
                </a:cubicBezTo>
                <a:cubicBezTo>
                  <a:pt x="19918" y="66217"/>
                  <a:pt x="22816" y="70156"/>
                  <a:pt x="26890" y="71740"/>
                </a:cubicBezTo>
                <a:lnTo>
                  <a:pt x="26890" y="156393"/>
                </a:lnTo>
                <a:cubicBezTo>
                  <a:pt x="22816" y="157978"/>
                  <a:pt x="19918" y="161916"/>
                  <a:pt x="19918" y="166533"/>
                </a:cubicBezTo>
                <a:cubicBezTo>
                  <a:pt x="19918" y="166715"/>
                  <a:pt x="19964" y="166850"/>
                  <a:pt x="19964" y="166986"/>
                </a:cubicBezTo>
                <a:lnTo>
                  <a:pt x="18289" y="166986"/>
                </a:lnTo>
                <a:cubicBezTo>
                  <a:pt x="14758" y="166986"/>
                  <a:pt x="11861" y="169883"/>
                  <a:pt x="11861" y="173414"/>
                </a:cubicBezTo>
                <a:lnTo>
                  <a:pt x="11861" y="178711"/>
                </a:lnTo>
                <a:lnTo>
                  <a:pt x="6428" y="178711"/>
                </a:lnTo>
                <a:cubicBezTo>
                  <a:pt x="2897" y="178711"/>
                  <a:pt x="0" y="181608"/>
                  <a:pt x="0" y="185139"/>
                </a:cubicBezTo>
                <a:lnTo>
                  <a:pt x="0" y="202341"/>
                </a:lnTo>
                <a:cubicBezTo>
                  <a:pt x="0" y="205872"/>
                  <a:pt x="2897" y="208769"/>
                  <a:pt x="6428" y="208769"/>
                </a:cubicBezTo>
                <a:lnTo>
                  <a:pt x="197282" y="208769"/>
                </a:lnTo>
                <a:cubicBezTo>
                  <a:pt x="200813" y="208769"/>
                  <a:pt x="203710" y="205872"/>
                  <a:pt x="203710" y="202341"/>
                </a:cubicBezTo>
                <a:lnTo>
                  <a:pt x="203710" y="185139"/>
                </a:lnTo>
                <a:cubicBezTo>
                  <a:pt x="203710" y="181608"/>
                  <a:pt x="200813" y="178711"/>
                  <a:pt x="197282" y="178711"/>
                </a:cubicBezTo>
                <a:lnTo>
                  <a:pt x="191850" y="178711"/>
                </a:lnTo>
                <a:lnTo>
                  <a:pt x="191850" y="173414"/>
                </a:lnTo>
                <a:cubicBezTo>
                  <a:pt x="191850" y="169883"/>
                  <a:pt x="188953" y="166986"/>
                  <a:pt x="185422" y="166986"/>
                </a:cubicBezTo>
                <a:lnTo>
                  <a:pt x="183747" y="166986"/>
                </a:lnTo>
                <a:cubicBezTo>
                  <a:pt x="183747" y="166850"/>
                  <a:pt x="183792" y="166715"/>
                  <a:pt x="183792" y="166533"/>
                </a:cubicBezTo>
                <a:cubicBezTo>
                  <a:pt x="183792" y="161916"/>
                  <a:pt x="180895" y="157978"/>
                  <a:pt x="176821" y="156439"/>
                </a:cubicBezTo>
                <a:lnTo>
                  <a:pt x="176821" y="71740"/>
                </a:lnTo>
                <a:cubicBezTo>
                  <a:pt x="180895" y="70156"/>
                  <a:pt x="183792" y="66217"/>
                  <a:pt x="183792" y="61600"/>
                </a:cubicBezTo>
                <a:cubicBezTo>
                  <a:pt x="183792" y="61283"/>
                  <a:pt x="183747" y="60966"/>
                  <a:pt x="183747" y="60649"/>
                </a:cubicBezTo>
                <a:lnTo>
                  <a:pt x="191035" y="60649"/>
                </a:lnTo>
                <a:cubicBezTo>
                  <a:pt x="194838" y="60649"/>
                  <a:pt x="197916" y="57571"/>
                  <a:pt x="197916" y="53769"/>
                </a:cubicBezTo>
                <a:lnTo>
                  <a:pt x="197916" y="34891"/>
                </a:lnTo>
                <a:cubicBezTo>
                  <a:pt x="197916" y="31858"/>
                  <a:pt x="195969" y="29187"/>
                  <a:pt x="193117" y="28282"/>
                </a:cubicBezTo>
                <a:lnTo>
                  <a:pt x="103938" y="306"/>
                </a:lnTo>
                <a:cubicBezTo>
                  <a:pt x="103259" y="102"/>
                  <a:pt x="102557" y="0"/>
                  <a:pt x="10185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B1860FD-EBCF-421E-99ED-EC1A106F4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6548" y="49041"/>
            <a:ext cx="1607517" cy="10351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0748DEC-9849-4B35-8220-41CFFD55A0AD}"/>
              </a:ext>
            </a:extLst>
          </p:cNvPr>
          <p:cNvSpPr txBox="1"/>
          <p:nvPr/>
        </p:nvSpPr>
        <p:spPr>
          <a:xfrm>
            <a:off x="789957" y="2030100"/>
            <a:ext cx="7620000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km-KH" sz="2800" b="1" dirty="0">
                <a:ln w="952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Khmer OS Muol Light" panose="02000500000000020004" pitchFamily="2" charset="0"/>
                <a:cs typeface="Khmer OS Muol Light" panose="02000500000000020004" pitchFamily="2" charset="0"/>
              </a:rPr>
              <a:t>វិធីសាស្ត្រគ្រប់គ្រងកំហឹង</a:t>
            </a:r>
            <a:endParaRPr lang="en-US" sz="2800" b="1" dirty="0">
              <a:ln w="9525">
                <a:solidFill>
                  <a:schemeClr val="bg2">
                    <a:lumMod val="2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186205-8D99-4D44-B85C-D2EF6198EFB8}"/>
              </a:ext>
            </a:extLst>
          </p:cNvPr>
          <p:cNvSpPr txBox="1"/>
          <p:nvPr/>
        </p:nvSpPr>
        <p:spPr>
          <a:xfrm>
            <a:off x="789957" y="4739995"/>
            <a:ext cx="76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m-KH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hmer OS Muol Light" panose="02000500000000020004" pitchFamily="2" charset="0"/>
                <a:cs typeface="Khmer OS Muol Light" panose="02000500000000020004" pitchFamily="2" charset="0"/>
              </a:rPr>
              <a:t>ឆ្នាំសិក្សា ២០២៣</a:t>
            </a:r>
            <a:r>
              <a:rPr lang="km-KH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rebuchet MS" panose="020B0603020202020204" pitchFamily="34" charset="0"/>
                <a:cs typeface="Khmer OS Muol Light" panose="02000500000000020004" pitchFamily="2" charset="0"/>
              </a:rPr>
              <a:t>―</a:t>
            </a:r>
            <a:r>
              <a:rPr lang="km-KH" sz="1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hmer OS Muol Light" panose="02000500000000020004" pitchFamily="2" charset="0"/>
                <a:cs typeface="Khmer OS Muol Light" panose="02000500000000020004" pitchFamily="2" charset="0"/>
              </a:rPr>
              <a:t>២០២៤</a:t>
            </a:r>
            <a:endParaRPr lang="en-US" sz="18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B30DF0C-12C2-4E4A-88BA-FB76535ECC74}"/>
              </a:ext>
            </a:extLst>
          </p:cNvPr>
          <p:cNvSpPr/>
          <p:nvPr/>
        </p:nvSpPr>
        <p:spPr>
          <a:xfrm>
            <a:off x="1848541" y="4086597"/>
            <a:ext cx="5598007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រៀបរៀងឡើងវិញនិងកែសម្រួលបន្ថែមដោយ៖ លោក សៀន វីរៈ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8EA989-FA38-44F9-BE87-17997FE80EBB}"/>
              </a:ext>
            </a:extLst>
          </p:cNvPr>
          <p:cNvSpPr/>
          <p:nvPr/>
        </p:nvSpPr>
        <p:spPr>
          <a:xfrm>
            <a:off x="2162103" y="40045"/>
            <a:ext cx="4572000" cy="1420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2000" dirty="0">
                <a:solidFill>
                  <a:srgbClr val="0070C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ព្រះរាជាណាចក្រកម្ពុជា</a:t>
            </a:r>
            <a:br>
              <a:rPr lang="km-KH" sz="2000" dirty="0">
                <a:solidFill>
                  <a:srgbClr val="0070C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</a:br>
            <a:r>
              <a:rPr lang="km-KH" sz="2000" dirty="0">
                <a:solidFill>
                  <a:srgbClr val="0070C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ជាតិ សាសនា ព្រះមហាក្សត្រ</a:t>
            </a:r>
            <a:br>
              <a:rPr lang="km-KH" sz="2400" dirty="0">
                <a:solidFill>
                  <a:srgbClr val="0070C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</a:br>
            <a:endParaRPr lang="en-US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A06BE8-0AC4-4B67-A9CB-CE66A9366C83}"/>
              </a:ext>
            </a:extLst>
          </p:cNvPr>
          <p:cNvSpPr/>
          <p:nvPr/>
        </p:nvSpPr>
        <p:spPr>
          <a:xfrm>
            <a:off x="3406456" y="3154953"/>
            <a:ext cx="2331087" cy="5155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2000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និស្សិត៖ ចិត្តវិទ្យា</a:t>
            </a:r>
            <a:endParaRPr lang="en-US" sz="2000" dirty="0">
              <a:solidFill>
                <a:schemeClr val="bg1">
                  <a:lumMod val="10000"/>
                </a:schemeClr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pic>
        <p:nvPicPr>
          <p:cNvPr id="1026" name="Picture 2" descr="What Does a Psychologist Do and Who Needs One? – Vie Psychology">
            <a:extLst>
              <a:ext uri="{FF2B5EF4-FFF2-40B4-BE49-F238E27FC236}">
                <a16:creationId xmlns:a16="http://schemas.microsoft.com/office/drawing/2014/main" id="{6AE04FBD-C671-4A9C-8ACE-9162D7817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9" y="49041"/>
            <a:ext cx="1726754" cy="9410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CF6229-2E39-4487-A32A-DDFF732606AE}"/>
              </a:ext>
            </a:extLst>
          </p:cNvPr>
          <p:cNvSpPr/>
          <p:nvPr/>
        </p:nvSpPr>
        <p:spPr>
          <a:xfrm>
            <a:off x="627218" y="74342"/>
            <a:ext cx="154080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1600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១.សេចក្តីផ្តើម</a:t>
            </a:r>
            <a:endParaRPr lang="en-US" sz="1600" dirty="0">
              <a:solidFill>
                <a:schemeClr val="bg1">
                  <a:lumMod val="10000"/>
                </a:schemeClr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5D41A-AE79-4CED-BAE7-C82E8CA3E384}"/>
              </a:ext>
            </a:extLst>
          </p:cNvPr>
          <p:cNvSpPr/>
          <p:nvPr/>
        </p:nvSpPr>
        <p:spPr>
          <a:xfrm>
            <a:off x="627218" y="559523"/>
            <a:ext cx="846474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តើយើងធ្លាប់កត់សម្គាល់កំហឹងដែរឬទេ?</a:t>
            </a:r>
            <a:endParaRPr lang="en-US" sz="1600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7514E5-1A7E-4524-AF2D-68815A26A6E1}"/>
              </a:ext>
            </a:extLst>
          </p:cNvPr>
          <p:cNvSpPr/>
          <p:nvPr/>
        </p:nvSpPr>
        <p:spPr>
          <a:xfrm>
            <a:off x="552877" y="876947"/>
            <a:ext cx="8464743" cy="4266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មនុស្សមានសុខភាពខផ្លូវចិត្តល្អជាមនុស្សដែលមានសុខភាពផ្លូវកាយល្អ ។ ផ្ទុយទៅវិញ មនុស្សមានសុខភាពផ្លូវចិត្តមិនល្អ ក៏ជាមនុស្សមានសុខភាពផ្លូវកាយមិនល្អដែរ ហើយគេនឹងបណ្តោយឲរាងកាយទ្រុឌទ្រោមចុះខ្សោយ និងមានជំងឺផ្សេងៗ ។  សុខភាពផ្លូវចិត្ត​ និងផ្លូវកាយមិនល្អបណ្តាលមកពីមានជំងឺក្នុងចិត្តដូចជា ការមានកំហឹងច្រើន ខូចចិត្ត ឆេវឆៅ ខឹងក្រេវក្រោធ ជាពិសេស មនុស្សដែលមានចរិកមានៈ រឹងរួស ចូលចិត្តយកឈ្នះចាញ់​ មិនចេះស្តាប់ហេតុផល មិនចេះរួសរាយរាក់ទាក់ និងឆាប់ខឹងក្រេវក្រោធ ។</a:t>
            </a:r>
          </a:p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កំហឹងជារោគក្នុងចិត្តម្យ៉ាង ដែលធ្វើឲចិត្តមិនស្រួលនិងអារម្មណ៍មិនល្អ ហើយនាំឲកើតជំងឺផ្សេងៗទៀត មកលើរូបរាយកាយរបស់យើង ពីព្រោះ វាជំរុញឲរាងកាយផលិតអ័រម៉ូនស្រ្តេសជាច្រើន ដែលអាចបណ្តាលឲស្ទះសរសៃលំហូរឈាម ។ ទន្ទឹមនិងនោះ វាក៏បង្កើនល្បឿនចង្វាក់បេះដូង បង្កើនសម្ពាធឈាម កម្រិតជាតិស្ករនិង ខ្លាញ់ក្នុងចរន្តឈាម ធ្វើឲស្ទះដែលជាហេតុដែលអាចបង្កឲកើតជំងឺបេះដូង អាចស្លាប់បាននៅណាមួយ ។  </a:t>
            </a:r>
          </a:p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កំហឹងតែងកើតលើមនុស្សគ្រប់គ្នា មិនប្រកាន់វណ្ណៈ អ្វីទាំងអស់ ដោយសារតែមនុស្សជួបនូវរឿងរ៉ាវមិនពេញចិត្តផ្សេងៗ ដូចជា ជួបមនុស្សដែលធ្វើឲមិនសប្បាយចិត្ត ឬមិនបានដូចអ្វីដែលខ្លួនចង់បាន ឬក៏ត្រូវគេប្រមាថមើលងាយ ស្តីបន្ទោស ត្រូវគេនិយាយដើម មួលបង្កាច់ បង្ខូចឈ្មោះផ្សេងៗជាដើម ។ អ្វីទាំងអស់នេះ នឹងជំរុញឲយើងកើតចិត្តរំជួលនិងលោតញ៉ាប់ញ័រ ហើយកើតជាកំហឹង ។</a:t>
            </a:r>
            <a:endParaRPr lang="en-US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15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81D777-619F-49B0-A1C9-65EDD333FE60}"/>
              </a:ext>
            </a:extLst>
          </p:cNvPr>
          <p:cNvSpPr/>
          <p:nvPr/>
        </p:nvSpPr>
        <p:spPr>
          <a:xfrm>
            <a:off x="587298" y="600056"/>
            <a:ext cx="8504663" cy="4266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កំហឹងតែងទុកក្នុងចិត្ត នៅពេលដែលវាមានកម្លាំងគ្រប់គ្រាន់ វានឹងបញ្ចាចេញពីចិត្តទៅតាមរយៈ </a:t>
            </a:r>
          </a:p>
          <a:p>
            <a:pPr>
              <a:lnSpc>
                <a:spcPct val="150000"/>
              </a:lnSpc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ការគិតអាក្រក់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៖ គិតរកវិធីធ្វើបាបខ្លួនឯង ឬអ្នកដទៃ ។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ពាក្យសម្តីអាក្រក់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៖ ស្តីថាឲ ជេរប្រទេច និយាយប្រមាថ មើលងាយ និង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ទង្វើអាក្រក់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៖ វាយតប់ ទាត់ធាក់ កាប់សម្លាប់ជាដើម ។ ទាំងអស់នេះគឺជាសញ្ញា ឬជាផលនៃកំហឹងទាំងអស់ ពីព្រោះ</a:t>
            </a:r>
          </a:p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ភ្លើងកំហឹង វាបានឆេះនៅក្នុងចិត្ត ហើយបញ្ចាចេញតាមរយៈ ផ្លូវចិត្ត ផ្លូវកាយ និងផ្លូវវាចា ដែលធ្វើឲប៉ះពាល់ខ្លួនឯងខ្លាំងជាងគេ និងអ្នកពាក់ព័ន្ធដទៃទៀត ។ ខ្ញុំនឹងបង្ហាញពី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វិធីសាស្ត្រគ្រប់គ្រងកំហឹង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រួមមាន ៖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វិធីបន្ធូរបន្ថយកំហឹង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៖  វិធីរាប់លេខ វិធីពន្យាពេលឲចិត្តស្ងប់ស្ងាត់  វិធី ប្តូរចិត្តដោយមិនផ្តោតលើអារម្មណ៍ខឹង វិធីបញ្ចេញកម្លាំងខ្លាំងៗ បន្ធូរកំហឹង វិធីបញ្ចេញកំហឹងដោយធ្វើការងារផ្ទះ វិធីស្រែកបញ្ចេញសំឡេងខ្លាំងៗ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វិធីសាស្ត្រទប់និងគ្រប់គ្រងកំហឹង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៖  វិធីមិនខឹងតប វិធីអត់ធ្មត់បីកម្រិត វិធីទប់កំហឹងដោយខន្តី វិធីទប់កំហឹងដោយមេត្តា និងវិធីអធិដ្ឋានចិត្ត សូត្រធម៌ និងធ្វើសម្មាធិ ។ </a:t>
            </a:r>
          </a:p>
          <a:p>
            <a:pPr>
              <a:lnSpc>
                <a:spcPct val="150000"/>
              </a:lnSpc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ជារួម កំហឹងនាំមកអន្តរាយដល់ខ្លួនឯងនិងអ្នកដទៃ​ ការធ្វើបាបខ្លួន ការសម្លាប់ខ្លួន ការដុតផ្ទះ ការប្រើហឹង្សាក្នុងរូបភាពផ្សេងៗ និងសម្លាប់អ្នកដទៃជាដើម ។​ ផ្ទុយទៅវិញ បើយើងចេះយកវិធីសាស្ត្រណាមួយទៅប្រើទប់ស្កាត់ពេលអ្នកកំពុងហឹង នោះយើងអាចរំសាយ បញ្ឈប់ ឬបំបាត់កំហឹងពីក្នុងចិត្តបាន ហើយធ្វើចិត្តឲត្រជាក់ដែលនឹងនាំមកនូវសេចក្តីសុខដល់ខ្លួន គ្រួសារ ស្ថានប័ន និងសង្គម ។ 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08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BCEF4B-FD71-4C06-8AFA-FB1753DB646E}"/>
              </a:ext>
            </a:extLst>
          </p:cNvPr>
          <p:cNvSpPr/>
          <p:nvPr/>
        </p:nvSpPr>
        <p:spPr>
          <a:xfrm>
            <a:off x="670903" y="737745"/>
            <a:ext cx="84730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២.១ លក្ខណៈកំហឹង</a:t>
            </a:r>
            <a:endParaRPr lang="km-KH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DCBD30-4E2A-4F96-9B42-6FF1B9D9B304}"/>
              </a:ext>
            </a:extLst>
          </p:cNvPr>
          <p:cNvSpPr/>
          <p:nvPr/>
        </p:nvSpPr>
        <p:spPr>
          <a:xfrm>
            <a:off x="670903" y="157881"/>
            <a:ext cx="16113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២.ស្គាល់កំហឹង</a:t>
            </a:r>
            <a:endParaRPr lang="km-KH" sz="1600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8D7EE-EAD7-40A2-8AEC-6688D0F6B618}"/>
              </a:ext>
            </a:extLst>
          </p:cNvPr>
          <p:cNvSpPr/>
          <p:nvPr/>
        </p:nvSpPr>
        <p:spPr>
          <a:xfrm>
            <a:off x="670903" y="1071606"/>
            <a:ext cx="8398756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 មានលក្ខណៈក្តៅដូចដុំភ្លើងដែលកំពុងឆេះក្នុងឡធ្យូង ។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នៅពេលនរណាមានកំហឹង វាធ្វើឲចិត្តរបស់អ្នកនោះក្តៅឆួល ។ ធម្មតាភ្លើង បើវា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ចាប់ផ្តើមឆេះវត្ថុណា វានឹងឆេះវត្ថុនោះឯង ហើយនឹងឆេះទៅវត្ថុផ្សេងៗទៀតដែល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នៅជិតវា ។ </a:t>
            </a:r>
          </a:p>
        </p:txBody>
      </p:sp>
      <p:pic>
        <p:nvPicPr>
          <p:cNvPr id="1026" name="Picture 2" descr="ភ្នំពេញ ប៉ុស្ដិ៍ | ​Aria D''italia ភីហ្សា​ដុត​​ឡ​អ៊ីតាលី​  ម្ចាស់​ហាង​ថា​​មិន​ឆ្ងាញ់​មិន​យក​លុយ">
            <a:extLst>
              <a:ext uri="{FF2B5EF4-FFF2-40B4-BE49-F238E27FC236}">
                <a16:creationId xmlns:a16="http://schemas.microsoft.com/office/drawing/2014/main" id="{87185C34-351D-4141-9208-76C3F759F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893" y="529121"/>
            <a:ext cx="2735766" cy="20426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67EF963-0AAB-4C36-A398-91B1C03D2B49}"/>
              </a:ext>
            </a:extLst>
          </p:cNvPr>
          <p:cNvSpPr/>
          <p:nvPr/>
        </p:nvSpPr>
        <p:spPr>
          <a:xfrm>
            <a:off x="1593460" y="2313563"/>
            <a:ext cx="5957080" cy="6232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1200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ធ្យូងដែលត្រូវបានភ្លើងឆេះក្លាយទៅជាផេះ </a:t>
            </a:r>
          </a:p>
          <a:p>
            <a:pPr algn="ctr">
              <a:lnSpc>
                <a:spcPct val="150000"/>
              </a:lnSpc>
            </a:pPr>
            <a:r>
              <a:rPr lang="km-KH" sz="1200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មនុស្សមានកំហឹងតែងឆេះក្តៅក្នុងចិត្ត ធ្វើឲ្យរលាយក្តីសុខ ហើយកើតទៅជាទុក្ខ 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0CB778-9B1A-4F2B-8A16-7AA4F2ED78E6}"/>
              </a:ext>
            </a:extLst>
          </p:cNvPr>
          <p:cNvSpPr/>
          <p:nvPr/>
        </p:nvSpPr>
        <p:spPr>
          <a:xfrm>
            <a:off x="3553523" y="3579480"/>
            <a:ext cx="5531004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ដូចគ្នានេះដែរ នរណាក៏ដោយ ពេលមានកំហឹងក្នុងចិត្ត ហើយមិនព្យាយាមគ្រប់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គ្រង និងយកឈ្នះវាឲបានទេ នោះភ្លើងកំហឹងឆាបឆេះក្នុងចិត្តបុគ្គលនោះជាក់ជា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មិនខាន ។ ជាលទ្ធផលគឺ ៖ ឆេះទី១ គឺឆេះខ្លួនឯង ឆេះទី២ គឺ ៖ ឆេះអ្នកពាក់ព័ន្ធ ។</a:t>
            </a:r>
          </a:p>
        </p:txBody>
      </p:sp>
      <p:pic>
        <p:nvPicPr>
          <p:cNvPr id="1028" name="Picture 4" descr="Edson - Recevez la flamme de mon cœur - Compte à rebours pour le royaume">
            <a:extLst>
              <a:ext uri="{FF2B5EF4-FFF2-40B4-BE49-F238E27FC236}">
                <a16:creationId xmlns:a16="http://schemas.microsoft.com/office/drawing/2014/main" id="{D8680BBE-BB57-47F5-8D3F-968B82D05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03" y="3055434"/>
            <a:ext cx="2882620" cy="196620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28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2262DB-D51E-4B0A-B95E-9420FEA77E52}"/>
              </a:ext>
            </a:extLst>
          </p:cNvPr>
          <p:cNvSpPr/>
          <p:nvPr/>
        </p:nvSpPr>
        <p:spPr>
          <a:xfrm>
            <a:off x="769433" y="63230"/>
            <a:ext cx="64119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ឥរិយាបថមួយចំនួនដែលបណ្តាលឲកើតកំហឹង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028D2-C4FA-4B58-88F9-27BFD1AB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73" y="676507"/>
            <a:ext cx="4415884" cy="44037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E27D22-D54D-4CF2-9D1B-C1619EA3C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98" y="676507"/>
            <a:ext cx="3887602" cy="44037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92270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2D40AA-AB17-4CBB-93F6-E397A34A9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26" y="564994"/>
            <a:ext cx="4052723" cy="45152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2C5234-B5A8-4C8B-89E8-FADFFA843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156" y="564995"/>
            <a:ext cx="4304371" cy="45152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4DE9C4-ADD2-4719-90DF-1168357A05DD}"/>
              </a:ext>
            </a:extLst>
          </p:cNvPr>
          <p:cNvSpPr/>
          <p:nvPr/>
        </p:nvSpPr>
        <p:spPr>
          <a:xfrm>
            <a:off x="769433" y="63230"/>
            <a:ext cx="641195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ឥរិយាបថមួយចំនួនដែលបណ្តាលឲកើតកំហឹង</a:t>
            </a:r>
          </a:p>
        </p:txBody>
      </p:sp>
    </p:spTree>
    <p:extLst>
      <p:ext uri="{BB962C8B-B14F-4D97-AF65-F5344CB8AC3E}">
        <p14:creationId xmlns:p14="http://schemas.microsoft.com/office/powerpoint/2010/main" val="11062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8C5DB9-1E51-4836-A32E-6107427939C2}"/>
              </a:ext>
            </a:extLst>
          </p:cNvPr>
          <p:cNvSpPr/>
          <p:nvPr/>
        </p:nvSpPr>
        <p:spPr>
          <a:xfrm>
            <a:off x="657922" y="526172"/>
            <a:ext cx="8471210" cy="3620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តើកំហឹងមានលក្ខណៈកើតឡើងយ៉ាងដូចម្តេច ? 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នៅពេលយើងធ្វើ ឬជួបរឿងអ្វីមួយ ដែលប៉ះអារម្មណ៍មិនល្អ មិនចូលចិត្ត ថ្នាំងថ្នាក់ ខុសពីគំនិតខ្លួន ឬជួបគូរបដិបក្ខ ឬក៏ជួបរឿងរ៉ាវផ្សេងៗ ដែលធ្វើឲអារម្មណ៍ខឹងក្រោធកើតឡើង នោះគឺជាលក្ខណៈនៃការកើតឡើងនូវកំហឹង ។ ពេលអារម្មណ៍ខឹងកើតឡើង វាធ្វើឲយើងចាប់ផ្តើមគិតក្តៅក្រហាយ ខឹងក្នុងចិត្ត ហើយគិតរកវិធីអ្វីមួយដើម្បីតប ។ បន្ទាប់មកចិត្តខឹងនឹងបញ្ជាថា « ឥឡូវយើងនឹងត្រូវធ្វើយ៉ាងម៉េចឲអ្នកនោះវិនាស » ដូចជា ៖ បញ្ជាឲរិះរកវិធី ដើម្បីធ្វើឲអ្នកដែលខ្លួនខឹងនោះមានវិបត្តិនិងដល់នូវអន្តរាយដោយហេតុណាមួយ បញ្ជាទៅមាត់ឲជេរ ស្តីថាឲ និងបញ្ជាទៅជើង ដៃឲវាយកាប់ចាក់គ្នាគឺសុទ្ធតែមកពីហេតុណាមួយ ។ ជាក់ស្តែង នៅពេលក្មេងៗយុវវ័យ ឈ្លោះប្រកែក រហូតដល់វាយកាប់ចាក់គ្នា​ គឺសុទ្ធតែមកពីមានកំហឹងទាំងអស់ ។  រឿងបែបនេះ មិនមែនកើតមានចំពោះតែក្មេងខិលខូចទេ សូម្បីតែមនុស្សចាស់ក៏អាចឈ្លោះប្រកែក និងបង្កទៅជាហិង្សាដែរ ដូចជា ប្រពន្ធជេប្តី ប្តីវាយប្រពន្ធ ដោយសារតែរឿងប្រច័ណ្ឌ បងប្អូនវាយតបគ្នាដោយសារតែឈ្លោះ ខឹង ច្រណែន ដង្តើមទ្រព្យ ចៅហ្វាយនាយស្តីថាឲ និងវាយកូនចៅជាដើម។ ទាំងអស់នេះសុទ្ធតែកើតពីការមិនចេះទប់នូវកំហឹង ពិសេសដូចជា អំពីហិង្សាក្នុងគ្រួសារ ។ (</a:t>
            </a:r>
            <a:r>
              <a:rPr lang="en-US" dirty="0">
                <a:latin typeface="Khmer CN Samlot" panose="02000500000000020004" pitchFamily="2" charset="0"/>
                <a:cs typeface="Khmer CN Samlot" panose="02000500000000020004" pitchFamily="2" charset="0"/>
              </a:rPr>
              <a:t>Domestic Violence in Cambodia, 2022 )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744ED4-51F3-4BB6-B7BA-1ACAE7853B0D}"/>
              </a:ext>
            </a:extLst>
          </p:cNvPr>
          <p:cNvSpPr/>
          <p:nvPr/>
        </p:nvSpPr>
        <p:spPr>
          <a:xfrm>
            <a:off x="657922" y="187618"/>
            <a:ext cx="32159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២.២ លក្ខណៈនៃការកើតឡើងនូវកំហឹង</a:t>
            </a:r>
            <a:endParaRPr lang="km-KH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B0185-17A1-4CC0-9079-130490046E05}"/>
              </a:ext>
            </a:extLst>
          </p:cNvPr>
          <p:cNvSpPr/>
          <p:nvPr/>
        </p:nvSpPr>
        <p:spPr>
          <a:xfrm>
            <a:off x="657922" y="4542987"/>
            <a:ext cx="8029762" cy="307777"/>
          </a:xfrm>
          <a:prstGeom prst="rect">
            <a:avLst/>
          </a:prstGeom>
          <a:ln>
            <a:solidFill>
              <a:schemeClr val="accent2">
                <a:lumMod val="6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m-KH" dirty="0">
                <a:solidFill>
                  <a:srgbClr val="FF000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សម្គាល់កំហឹង ៖ ក្តៅក្នុងចិត្ត ឆេវឆៅ មួម៉ៅ ជេរប្រទេច ហិង្សា វាយប្រហារ កាប់ចាក់ សម្លាប់ !</a:t>
            </a:r>
          </a:p>
        </p:txBody>
      </p:sp>
    </p:spTree>
    <p:extLst>
      <p:ext uri="{BB962C8B-B14F-4D97-AF65-F5344CB8AC3E}">
        <p14:creationId xmlns:p14="http://schemas.microsoft.com/office/powerpoint/2010/main" val="204741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A26B2D4-A07A-46DB-B5B7-6D919CA01866}"/>
              </a:ext>
            </a:extLst>
          </p:cNvPr>
          <p:cNvSpPr/>
          <p:nvPr/>
        </p:nvSpPr>
        <p:spPr>
          <a:xfrm>
            <a:off x="648716" y="172751"/>
            <a:ext cx="26629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២.៣​ កំហឹងជំរុញទោសៈក្នុងចិត្ត</a:t>
            </a:r>
            <a:endParaRPr lang="km-KH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43F2F1-9116-4483-BD0B-4A8B5C43377D}"/>
              </a:ext>
            </a:extLst>
          </p:cNvPr>
          <p:cNvSpPr/>
          <p:nvPr/>
        </p:nvSpPr>
        <p:spPr>
          <a:xfrm>
            <a:off x="648715" y="511305"/>
            <a:ext cx="8406074" cy="134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ទោសៈ មានន័យថា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ប្រទូសរ៉ាយ ឬបៀតបៀន ។ ទោសៈគឺជាហេតុបៀតបៀនអ្នកដទៃ រករឿងរកហេតុធ្វើឲអាក្រក់ ឬបៀតបៀនខ្លួនឯង ឬថាត្រឹមតែប្រទូសរ៉ាយប៉ុណ្ណោះ ក៏ឈ្មោះថា ទោសៈដែរ ។​ ពេលមនុស្សមានកំហឹងតែងជំរុញហេតុខាងលើណាមួយឲកើតឡើងដូចជា ការបៀតបៀន ការរករឿងរកហេតុអ្នកដទៃជាដើម ។ </a:t>
            </a:r>
          </a:p>
          <a:p>
            <a:pPr>
              <a:lnSpc>
                <a:spcPct val="150000"/>
              </a:lnSpc>
            </a:pPr>
            <a:endParaRPr lang="km-KH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873BCC-A8DB-47FF-AB6A-68B38475ECE2}"/>
              </a:ext>
            </a:extLst>
          </p:cNvPr>
          <p:cNvSpPr/>
          <p:nvPr/>
        </p:nvSpPr>
        <p:spPr>
          <a:xfrm>
            <a:off x="648716" y="1537123"/>
            <a:ext cx="8406073" cy="4266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លក្ខណៈរបស់ទោសៈ </a:t>
            </a:r>
          </a:p>
          <a:p>
            <a:pPr marL="342900" indent="-112713">
              <a:lnSpc>
                <a:spcPct val="150000"/>
              </a:lnSpc>
              <a:buFont typeface="+mj-lt"/>
              <a:buAutoNum type="arabicPeriod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មានសភាពកាចជាលក្ខណៈដូចសត្វពស់ដែលត្រូវគេវាយ </a:t>
            </a:r>
          </a:p>
          <a:p>
            <a:pPr marL="342900" indent="-112713">
              <a:lnSpc>
                <a:spcPct val="150000"/>
              </a:lnSpc>
              <a:buFont typeface="+mj-lt"/>
              <a:buAutoNum type="arabicPeriod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មានការក្រហល់ក្រហាយជានិច្ចដូចត្រូវថ្នាំពិសជ្រាបចូល ឬមានការដុតកំដៅទីលំនៅរបស់ខ្លួន ដូចភ្លើងឆេះព្រៃ</a:t>
            </a:r>
          </a:p>
          <a:p>
            <a:pPr marL="342900" indent="-112713">
              <a:lnSpc>
                <a:spcPct val="150000"/>
              </a:lnSpc>
              <a:buFont typeface="+mj-lt"/>
              <a:buAutoNum type="arabicPeriod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មានការបៀតបៀន ប្រទូសរ៉ាយជាអាការៈប្រាកដដូចសត្រូវបានឱកាស</a:t>
            </a:r>
          </a:p>
          <a:p>
            <a:pPr marL="342900" indent="-112713">
              <a:lnSpc>
                <a:spcPct val="150000"/>
              </a:lnSpc>
              <a:buFont typeface="+mj-lt"/>
              <a:buAutoNum type="arabicPeriod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មានការបៀតបៀន ប្រទូសរ៉ាយ ( អាឃាតវត្ថុ ) ជាហេតុនៅជិត ។ </a:t>
            </a:r>
          </a:p>
          <a:p>
            <a:pPr marL="282575" indent="-282575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ហេតុដែលឲមានគំនុំ ឬមានការបៀតបៀនគ្នា ១០​ យ៉ាង ( អាឃាតវត្ថុ ១០ ) </a:t>
            </a:r>
          </a:p>
          <a:p>
            <a:pPr marL="460375" indent="-230188">
              <a:lnSpc>
                <a:spcPct val="150000"/>
              </a:lnSpc>
              <a:buFont typeface="+mj-lt"/>
              <a:buAutoNum type="arabicParenR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ជនឯណោះបានប្រព្រឹត្តនូវអំពើមិនជាប្រយោជន៍ដល់អាត្មាអញ</a:t>
            </a:r>
          </a:p>
          <a:p>
            <a:pPr marL="460375" indent="-230188">
              <a:lnSpc>
                <a:spcPct val="150000"/>
              </a:lnSpc>
              <a:buFont typeface="+mj-lt"/>
              <a:buAutoNum type="arabicParenR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ជនឯណោះកំពុងប្រព្រឹត្តនូវអំពើមិនជាប្រយោជន៍ដល់អាត្មាអញ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460375" indent="-230188">
              <a:lnSpc>
                <a:spcPct val="150000"/>
              </a:lnSpc>
              <a:buFont typeface="+mj-lt"/>
              <a:buAutoNum type="arabicParenR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ជនឯណោះនឹងប្រព្រឹត្តនូវអំពើមិនជាប្រយោជន៍ដល់អាត្មាអញ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460375" indent="-230188">
              <a:lnSpc>
                <a:spcPct val="150000"/>
              </a:lnSpc>
              <a:buFont typeface="+mj-lt"/>
              <a:buAutoNum type="arabicParenR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ជនឯណោះបានប្រព្រឹត្តនូវអំពើមិនជាប្រយោជន៍ដល់បុគ្គលជាទីស្រលាញ់ជាទីពេញចិត្តរបស់		អាត្មាអញ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460375" indent="-230188">
              <a:lnSpc>
                <a:spcPct val="150000"/>
              </a:lnSpc>
              <a:buFont typeface="+mj-lt"/>
              <a:buAutoNum type="arabicParenR"/>
              <a:tabLst>
                <a:tab pos="282575" algn="l"/>
              </a:tabLst>
            </a:pP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  <a:tabLst>
                <a:tab pos="282575" algn="l"/>
              </a:tabLst>
            </a:pP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06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5996E73-7877-46E1-89F5-34B193E59AEA}"/>
              </a:ext>
            </a:extLst>
          </p:cNvPr>
          <p:cNvSpPr/>
          <p:nvPr/>
        </p:nvSpPr>
        <p:spPr>
          <a:xfrm>
            <a:off x="390293" y="738457"/>
            <a:ext cx="8753707" cy="4912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  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ជនឯណោះកំពុងប្រព្រឹត្តនូវអំពើមិនជាប្រយោជន៍ដល់បុគ្គលជាទីស្រលាញ់ជាទីពេញចិត្តរបស់		   អាត្មាអញ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  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ជនឯណោះនឹងប្រព្រឹត្តនូវអំពើមិនជាប្រយោជន៍ដល់បុគ្គលជាទីស្រលាញ់ជាទីពេញចិត្តរបស់		      	   អាត្មាអញ</a:t>
            </a: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ជនឯណោះបានប្រព្រឹត្តនូវអំពើជាជាប្រយោជន៍ដល់បុគ្គលមិនជាទីស្រលាញ់ជាទីពេញចិត្តរបស់		អាត្មាអញ</a:t>
            </a: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ជនឯណោះកំពុងប្រព្រឹត្តនូវអំពើជាជាប្រយោជន៍ដល់បុគ្គលមិនជាទីស្រលាញ់ជាទីពេញចិត្តរបស់		អាត្មាអញ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គំនុំកើតឡើងថា​ ៖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ជនឯណោះនឹងប្រព្រឹត្តនូវអំពើជាជាប្រយោជន៍ដល់បុគ្គលមិនជាទីស្រលាញ់ជាទីពេញចិត្តរបស់			អាត្មាអញ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សេចក្តីក្រោធកើតឡើងក្នុងទីមិនគួរ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ដូចពេលដែលដើរជំពប់ ឬជាន់បន្លាជាដើម ។ </a:t>
            </a: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230187">
              <a:lnSpc>
                <a:spcPct val="150000"/>
              </a:lnSpc>
              <a:tabLst>
                <a:tab pos="282575" algn="l"/>
              </a:tabLst>
            </a:pP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endParaRPr lang="km-KH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endParaRPr lang="km-KH" b="1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573087" indent="-342900">
              <a:lnSpc>
                <a:spcPct val="150000"/>
              </a:lnSpc>
              <a:buFont typeface="+mj-lt"/>
              <a:buAutoNum type="arabicParenR" startAt="5"/>
              <a:tabLst>
                <a:tab pos="282575" algn="l"/>
              </a:tabLst>
            </a:pPr>
            <a:endParaRPr lang="km-KH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07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892775-28C1-4AC6-B1DB-8423413FE91D}"/>
              </a:ext>
            </a:extLst>
          </p:cNvPr>
          <p:cNvSpPr/>
          <p:nvPr/>
        </p:nvSpPr>
        <p:spPr>
          <a:xfrm>
            <a:off x="687659" y="545169"/>
            <a:ext cx="8404302" cy="5236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នៅពេលមនុស្សមានកំហឹង វាមានដំណាក់កាលចំនួនពីរធំៗ ៖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១. ដំណាក់កាលកំហឹងក្នុងចិត្ត   ២. ដំណាក់កាលកំហឹងចេញមកក្រៅ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១. ដំណាក់កាលកំហឹងក្នុងចិត្ត ៖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ជាកំហឹងដោយសារការគុំកួន លាក់ទុកក្នុងចិត្ត ហើយមិនបញ្ចេញឲគេឃើញ ។ ភាគច្រើននៃកំហឹងនេះតែងតែកើតលើអ្នកតូចទាប ទន់ខ្សោយ អ្នកក្រខ្សត់ដែលត្រូវគេមើលងាយ និងធ្វើបាប ហើយមិនហ៊ានធ្វើអ្វីគេ មានតែខឹងទុកក្នុងចិត្ត ដោយរងចាំរកឱកាសសងសឹកបញ្ចេញកំហឹងនោះវិញនិងកើតនៅលើអ្នកមានវិបត្តិស្នេហាដែលត្រូវគេបោកប្រាស់ជាដើម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២. ដំណាក់កាលកំហឹងចេញមកក្រៅ ៖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វាជាកំហឹងដែលមិនអាចទប់ក្នុងចិត្តបាន ហើយចេញមកតាមរយៈពាក្យសំដីនិងកាយវិការ ដូចជា និយាយញុះញង់  ចាក់ដោត​ ជេរប្រទេច ប្រមាថមើលងាយ និងការវាយទាត់ធាក់ បៀតបៀន ធ្វើទុកបុកម្នេញរាងកាយខ្លួនឯង និងអ្នកដទៃតាមរយៈការធ្វើទារុណកម្មផ្សេងៗ ឬការសម្លាប់ជាដើម ។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ដំណាក់កាលកំហឹងក្នុងចិត្ត គឺពេលប៉ះអារម្មណ៍មិនពេញចិត្តចំពោះរឿងអ្វីមួយ ។ កំហឹងនោះនឹងជំរុញចិត្តឲគេរកវិធីបៀតបៀននិងព្យាបាទខ្លួនឯង ឬអ្នកដទៃ ដោយចង់ឲគេវិនាសអន្តរាយជាដើម ។ កំហឹងបែបនេះប្រៀបដូចទៅនឹងរងើកភ្លើងដែលឆេះក្តៅងំក្នុងឡធ្យូង ឬចង្ក្រាន ហើយឆេះរលាយក្លាយទៅជាផេះ ។ ចំណែកមនុស្សដែលខឹងនៅក្នុងចិត្តគឺដូចភ្លើងកំពុងឆេះខ្លួននោះឯង ។ ជារួម នៅពេលមានកំហឹង វាបានអូសទាញចិត្តឲគុំកួន និយាយញុះញង់ ជេរប្រទេចនិងបៀតបៀនជីវិតខ្លួនឯងនិងមនុស្សដទៃ ។ យ៉ាងណាក៏ដោយ បើយើងទប់កំហឹងឲស្ថិតនៅ ក្នុង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ដំណាក់កាលកំហឹងក្នុងចិត្ត 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វាពិតជា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21718-7DC3-48A3-8A22-BE58B58128C9}"/>
              </a:ext>
            </a:extLst>
          </p:cNvPr>
          <p:cNvSpPr/>
          <p:nvPr/>
        </p:nvSpPr>
        <p:spPr>
          <a:xfrm>
            <a:off x="687659" y="143013"/>
            <a:ext cx="29033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២.៤​ ដំណាក់កាលនៃការកើតកំហឹង</a:t>
            </a:r>
            <a:endParaRPr lang="km-KH" sz="1600" b="1" dirty="0"/>
          </a:p>
        </p:txBody>
      </p:sp>
    </p:spTree>
    <p:extLst>
      <p:ext uri="{BB962C8B-B14F-4D97-AF65-F5344CB8AC3E}">
        <p14:creationId xmlns:p14="http://schemas.microsoft.com/office/powerpoint/2010/main" val="2566524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0DB017-F168-4F52-8E8E-9DD832163F4E}"/>
              </a:ext>
            </a:extLst>
          </p:cNvPr>
          <p:cNvSpPr/>
          <p:nvPr/>
        </p:nvSpPr>
        <p:spPr>
          <a:xfrm>
            <a:off x="647875" y="504061"/>
            <a:ext cx="8429218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ប្រសើរជាង ដំណាក់កាលកំហឹងចេញមកខាងក្រៅ ពីព្រោះបើកំហឹងចេញមកខាងក្រៅហើយ វាអាចនឹងបង្កអន្តរាយទាំងខ្លួនឯង និងអ្នកជុំវិញ ដូចភ្លើងឆេះរាលដាលដូច្នោះដែរ ។ កំហឹងចេញមកខាងក្រៅបានគឺដោយសារតែយើងមិនដឹងពីវិធីសាស្ត្រទប់ទល់និងគ្រប់គ្រងវា ទើបបានជាកើតឡើងដូច្នោះ ។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89E529-2C8E-498F-A64C-8865AA7EDB41}"/>
              </a:ext>
            </a:extLst>
          </p:cNvPr>
          <p:cNvSpPr/>
          <p:nvPr/>
        </p:nvSpPr>
        <p:spPr>
          <a:xfrm>
            <a:off x="989846" y="1643038"/>
            <a:ext cx="1877437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684213" algn="l"/>
              </a:tabLst>
            </a:pPr>
            <a:r>
              <a:rPr lang="km-KH" sz="18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ទម្រងនៃកំហឹង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C4870-F733-410E-A16C-024C01737A0E}"/>
              </a:ext>
            </a:extLst>
          </p:cNvPr>
          <p:cNvSpPr/>
          <p:nvPr/>
        </p:nvSpPr>
        <p:spPr>
          <a:xfrm>
            <a:off x="707349" y="3207384"/>
            <a:ext cx="1721946" cy="5155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sz="20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ចិត្ត   +  កំហឹង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86F21A-EF62-457A-93F2-534D1E1278ED}"/>
              </a:ext>
            </a:extLst>
          </p:cNvPr>
          <p:cNvSpPr/>
          <p:nvPr/>
        </p:nvSpPr>
        <p:spPr>
          <a:xfrm>
            <a:off x="2661752" y="2880370"/>
            <a:ext cx="1653017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>
              <a:lnSpc>
                <a:spcPct val="150000"/>
              </a:lnSpc>
              <a:buFont typeface="Segoe UI Emoji" panose="020B0502040204020203" pitchFamily="34" charset="0"/>
              <a:buChar char="⤷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គិតអាក្រក់      </a:t>
            </a:r>
          </a:p>
          <a:p>
            <a:pPr marL="285750" indent="-285750" algn="r">
              <a:lnSpc>
                <a:spcPct val="150000"/>
              </a:lnSpc>
              <a:buFont typeface="Segoe UI Emoji" panose="020B0502040204020203" pitchFamily="34" charset="0"/>
              <a:buChar char="⤷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និយាយអាក្រក់</a:t>
            </a:r>
          </a:p>
          <a:p>
            <a:pPr marL="285750" indent="-285750" algn="r">
              <a:lnSpc>
                <a:spcPct val="150000"/>
              </a:lnSpc>
              <a:buFont typeface="Segoe UI Emoji" panose="020B0502040204020203" pitchFamily="34" charset="0"/>
              <a:buChar char="⤷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ធ្វើអាក្រក់    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5B5395-54AA-416E-9773-EB7B3FE57B3E}"/>
              </a:ext>
            </a:extLst>
          </p:cNvPr>
          <p:cNvSpPr/>
          <p:nvPr/>
        </p:nvSpPr>
        <p:spPr>
          <a:xfrm>
            <a:off x="4314769" y="2880370"/>
            <a:ext cx="4960012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គិតចងគំនុំគុំកួន ព្យាបាទអ្នកដទៃ ( ខាងក្នុង 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និយាយទ្រគោះ បោះបោក ញុះញង់ អុជអាល ( ខាងក្រៅ 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បៀតបៀន វាយទាត់ធាក់ សម្លាប់ជីវិត ( ខាងក្រៅ ) </a:t>
            </a:r>
          </a:p>
        </p:txBody>
      </p:sp>
    </p:spTree>
    <p:extLst>
      <p:ext uri="{BB962C8B-B14F-4D97-AF65-F5344CB8AC3E}">
        <p14:creationId xmlns:p14="http://schemas.microsoft.com/office/powerpoint/2010/main" val="3064749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D2E78E-9255-4F4E-B9AD-9456308A82B7}"/>
              </a:ext>
            </a:extLst>
          </p:cNvPr>
          <p:cNvSpPr/>
          <p:nvPr/>
        </p:nvSpPr>
        <p:spPr>
          <a:xfrm>
            <a:off x="625571" y="65446"/>
            <a:ext cx="283282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រូបភាពការកើតឡើងនូវកំហឹង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FC3286-CF72-4B05-9298-B9F60B239AF5}"/>
              </a:ext>
            </a:extLst>
          </p:cNvPr>
          <p:cNvSpPr/>
          <p:nvPr/>
        </p:nvSpPr>
        <p:spPr>
          <a:xfrm>
            <a:off x="811671" y="1680117"/>
            <a:ext cx="1667751" cy="1607169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m-KH" sz="3200" dirty="0">
                <a:solidFill>
                  <a:srgbClr val="0070C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ចិត្ត</a:t>
            </a:r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B18FCD07-BED2-488E-B1A0-DEB6C27C3BD3}"/>
              </a:ext>
            </a:extLst>
          </p:cNvPr>
          <p:cNvSpPr/>
          <p:nvPr/>
        </p:nvSpPr>
        <p:spPr>
          <a:xfrm>
            <a:off x="2573894" y="2334825"/>
            <a:ext cx="423735" cy="430887"/>
          </a:xfrm>
          <a:prstGeom prst="plus">
            <a:avLst/>
          </a:prstGeom>
          <a:solidFill>
            <a:srgbClr val="00B0F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m-KH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0E435B-D50C-4412-B740-300B73A16DFF}"/>
              </a:ext>
            </a:extLst>
          </p:cNvPr>
          <p:cNvSpPr/>
          <p:nvPr/>
        </p:nvSpPr>
        <p:spPr>
          <a:xfrm>
            <a:off x="3126117" y="1680117"/>
            <a:ext cx="1695974" cy="1607169"/>
          </a:xfrm>
          <a:prstGeom prst="ellipse">
            <a:avLst/>
          </a:prstGeom>
          <a:solidFill>
            <a:srgbClr val="CCE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m-KH" sz="2000" dirty="0">
                <a:solidFill>
                  <a:srgbClr val="FF0000"/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កំហឹង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C9CF58-CA25-4CB4-9E50-F2CBBF3F0DBD}"/>
              </a:ext>
            </a:extLst>
          </p:cNvPr>
          <p:cNvCxnSpPr>
            <a:cxnSpLocks/>
            <a:stCxn id="6" idx="7"/>
            <a:endCxn id="3078" idx="2"/>
          </p:cNvCxnSpPr>
          <p:nvPr/>
        </p:nvCxnSpPr>
        <p:spPr>
          <a:xfrm flipV="1">
            <a:off x="4573721" y="1550279"/>
            <a:ext cx="819410" cy="3652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D9376A-B2A2-4A22-BE57-505889D92302}"/>
              </a:ext>
            </a:extLst>
          </p:cNvPr>
          <p:cNvCxnSpPr>
            <a:cxnSpLocks/>
            <a:stCxn id="6" idx="6"/>
            <a:endCxn id="3076" idx="2"/>
          </p:cNvCxnSpPr>
          <p:nvPr/>
        </p:nvCxnSpPr>
        <p:spPr>
          <a:xfrm>
            <a:off x="4822091" y="2483702"/>
            <a:ext cx="615932" cy="880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0C5BDD-8FDD-4ABD-A7A1-4AE39CD6811D}"/>
              </a:ext>
            </a:extLst>
          </p:cNvPr>
          <p:cNvCxnSpPr>
            <a:cxnSpLocks/>
            <a:stCxn id="6" idx="5"/>
            <a:endCxn id="3080" idx="2"/>
          </p:cNvCxnSpPr>
          <p:nvPr/>
        </p:nvCxnSpPr>
        <p:spPr>
          <a:xfrm>
            <a:off x="4573721" y="3051922"/>
            <a:ext cx="800593" cy="5382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76" name="Picture 4" descr="ចរិតអាក្រក់! មនុស្សនិយាយស្ដី ៤ ប្រភេទនេះ កុំរាប់រកជាគ្នាឱ្យសោះ – Pelklas">
            <a:extLst>
              <a:ext uri="{FF2B5EF4-FFF2-40B4-BE49-F238E27FC236}">
                <a16:creationId xmlns:a16="http://schemas.microsoft.com/office/drawing/2014/main" id="{8CE74DDA-C6AA-4DE2-907F-84259A585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023" y="2045747"/>
            <a:ext cx="1274393" cy="1052004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ចិត្តមនុស្ស​ពិបាកស្មាន - TNAOT">
            <a:extLst>
              <a:ext uri="{FF2B5EF4-FFF2-40B4-BE49-F238E27FC236}">
                <a16:creationId xmlns:a16="http://schemas.microsoft.com/office/drawing/2014/main" id="{CE163D2B-E90A-40C4-832F-2546C2C2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131" y="1089754"/>
            <a:ext cx="1382995" cy="92104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hirphy - #អំពើហិង្សាក្នុងគ្រួសារ អំពើហិង្សា ក្នុងគ្រួសារ... | Facebook">
            <a:extLst>
              <a:ext uri="{FF2B5EF4-FFF2-40B4-BE49-F238E27FC236}">
                <a16:creationId xmlns:a16="http://schemas.microsoft.com/office/drawing/2014/main" id="{C4E3A4D3-7750-453F-94BE-4B96E6C98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314" y="3129612"/>
            <a:ext cx="1401812" cy="921046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808698F5-FA9B-4A4D-9361-571E3064C0AA}"/>
              </a:ext>
            </a:extLst>
          </p:cNvPr>
          <p:cNvSpPr/>
          <p:nvPr/>
        </p:nvSpPr>
        <p:spPr>
          <a:xfrm>
            <a:off x="6855530" y="1370057"/>
            <a:ext cx="14526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24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គិតអាក្រក់</a:t>
            </a:r>
            <a:endParaRPr lang="km-KH" sz="2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5573C5-F3F7-4502-BB9E-E4F2BAE0B4A8}"/>
              </a:ext>
            </a:extLst>
          </p:cNvPr>
          <p:cNvSpPr/>
          <p:nvPr/>
        </p:nvSpPr>
        <p:spPr>
          <a:xfrm>
            <a:off x="6855530" y="2364680"/>
            <a:ext cx="1946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24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និយាយអាក្រក់</a:t>
            </a:r>
            <a:endParaRPr lang="km-KH" sz="2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E21A0E4-CFFA-4FA1-AD30-7020870152C3}"/>
              </a:ext>
            </a:extLst>
          </p:cNvPr>
          <p:cNvSpPr/>
          <p:nvPr/>
        </p:nvSpPr>
        <p:spPr>
          <a:xfrm>
            <a:off x="6899157" y="3359303"/>
            <a:ext cx="13500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24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ធ្វើអាក្រក់</a:t>
            </a:r>
            <a:endParaRPr lang="km-KH" sz="2400" dirty="0"/>
          </a:p>
        </p:txBody>
      </p:sp>
    </p:spTree>
    <p:extLst>
      <p:ext uri="{BB962C8B-B14F-4D97-AF65-F5344CB8AC3E}">
        <p14:creationId xmlns:p14="http://schemas.microsoft.com/office/powerpoint/2010/main" val="3909713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994AC3-228A-46F4-8ED5-D58CEB12207D}"/>
              </a:ext>
            </a:extLst>
          </p:cNvPr>
          <p:cNvSpPr/>
          <p:nvPr/>
        </p:nvSpPr>
        <p:spPr>
          <a:xfrm>
            <a:off x="690466" y="150447"/>
            <a:ext cx="32720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២.៥ លក្ខណៈសម្គាល់មនុស្សមានកំហឹង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D5A48-F93D-486F-BE5C-93D14959A0D0}"/>
              </a:ext>
            </a:extLst>
          </p:cNvPr>
          <p:cNvSpPr/>
          <p:nvPr/>
        </p:nvSpPr>
        <p:spPr>
          <a:xfrm>
            <a:off x="690467" y="626233"/>
            <a:ext cx="5717767" cy="3297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យើងអាចសម្គាល់ មនុស្សមានកំហឹងគឺជាមនុស្សមានអាការៈឆេវឆាវ មួរម៉ៅ ក្តៅក្រហាយ ខឹងសម្បារ និងប្រើអំពើហិង្សាជាដើម ។ គេក៏អាចមានអាការៈខឹងខ្លួនឯង អ្នកដទៃ របស់របរ វត្ថុ សត្វ ធម្មជាតិ មេឃ ដី ភ្លៀង ខ្យល់ ជាដើម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ពេលកំហឹងកើតឡើង មុខរបស់គេឡើងក្រហម ជាំខ្មៅ ឬហៅថា មុខឡើងឈាម គេតែងហៅថា ខឹងគេឡើងសឹងស្រក់ឈាម ខឹងឡើងភ្នែកឡើងក្រហម ឬខឹងគេឡើងញ័រដៃ និងញ័រជើងជាដើម ។ អាការៈបែបនេះដោយសារតែភ្លើងកំហឹងដែលឆេះនោះ វាបានឆេះពីក្នុងខ្លួន ហើយឲក្តៅរាលដាលដល់ផ្ទៃមុខថែមទៀតផង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អ្នកខ្លះក៏នៅគ្រាន់បើដែរ ទោះបីជាមានកំហឹងក្នុងចិត្ត ក៏នៅអាចទប់ចិត្តខឹងបាន មិនឲឆេះចេញមកខាងក្រៅតាមទង្វើ និងពាក្យសំដីនោះទេ គឺឲស្ថិតនៅដំណាក់កាលកំហឹងក្នុងចិត្ត ។ </a:t>
            </a:r>
            <a:endParaRPr lang="km-KH" dirty="0"/>
          </a:p>
        </p:txBody>
      </p:sp>
      <p:pic>
        <p:nvPicPr>
          <p:cNvPr id="4100" name="Picture 4" descr="Emotions and adjectives to describe objects, situations, etc | Baamboozle -  Baamboozle | The Most Fun Classroom Games!">
            <a:extLst>
              <a:ext uri="{FF2B5EF4-FFF2-40B4-BE49-F238E27FC236}">
                <a16:creationId xmlns:a16="http://schemas.microsoft.com/office/drawing/2014/main" id="{E306632E-4BAA-4519-BDD0-2E59FAADF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50" y="626233"/>
            <a:ext cx="2360142" cy="274143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1A0A61-1B57-445E-A46B-E5D637E80828}"/>
              </a:ext>
            </a:extLst>
          </p:cNvPr>
          <p:cNvSpPr/>
          <p:nvPr/>
        </p:nvSpPr>
        <p:spPr>
          <a:xfrm>
            <a:off x="6096000" y="3504900"/>
            <a:ext cx="40887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m-KH" sz="1200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គ្រាន់មើលតែមុខ ក៏ដឹងថាខឹងខ្លាំងដែរ ។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4A1D5B-DFAA-4FF5-8610-166BE9481CEC}"/>
              </a:ext>
            </a:extLst>
          </p:cNvPr>
          <p:cNvSpPr/>
          <p:nvPr/>
        </p:nvSpPr>
        <p:spPr>
          <a:xfrm>
            <a:off x="690466" y="4060521"/>
            <a:ext cx="8379193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កំហឹងក្នុងចិត្ត បើយើងទប់បាន វាជារឿងល្អណាស់ សូម្បីព្រះពុទ្ធក៏ទ្រង់សរសើរដែរ ។ ប៉ុន្តែបើយើងបណ្តោតាមកំហឹង វានឹងអាចនាំឲមានអន្តរាយផ្សេងៗកើតឡើង តែមួយប៉ប៊្រិចភ្នែក ។ ម្យ៉ាងវិញទៀតមនុស្សតែងតែច្រឡំនិងប្រកាន់ថា « កំហឹងជាខ្លួនឯង » ។ យើងធ្លាប់ឮហើយថា អ្នកខ្លះមិនថា ជាស្ត្រី ឬ បុរសទេ នៅពេលដែលគេខឹង ហើយធ្វើទង្វើអ្វី</a:t>
            </a:r>
          </a:p>
        </p:txBody>
      </p:sp>
    </p:spTree>
    <p:extLst>
      <p:ext uri="{BB962C8B-B14F-4D97-AF65-F5344CB8AC3E}">
        <p14:creationId xmlns:p14="http://schemas.microsoft.com/office/powerpoint/2010/main" val="3203259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5DAEF9-CEAF-456A-A53D-9E4C47E59746}"/>
              </a:ext>
            </a:extLst>
          </p:cNvPr>
          <p:cNvSpPr/>
          <p:nvPr/>
        </p:nvSpPr>
        <p:spPr>
          <a:xfrm>
            <a:off x="625464" y="596495"/>
            <a:ext cx="8451629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មួយខុសឆ្គង គេនិយាយថា​ « ទម្លាប់ខ្ញុំតែប៉ុណ្ណឹង ខ្ញុំធ្វើបែបហ្នឹង ខ្ញុំកែមិនបាន » ។ តាមពិត គ្រប់រឿងរ៉ាវសុទ្ធតែអាចកែប្រែបាន  ប៉ុន្តែបែរជាមិនព្រមធ្វើ ហើយយកអ្វីដែលជាកំហឹងនោះដាក់ក្នុងខ្លួនឯងទៅវិញ «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គាត់គឺកំហឹង កំហឹងគឺជាគាត់ » ។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ការប្រកាន់លក្ខណៈបែបនេះគេហៅថាជា «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មនុស្សឱបរងើកភ្លើង និងសម្ពាយទុក្ខ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» ។​ តាមពិតទៅមនុស្សយើងអាចលះបង់កំហឹងបាន បើទោះបី​ វាកើតពីគំនុំគុំកួនតាំងពីអតីតកាល ដោយការសេពគប់ ការញុះញង់ ឬហេតុផ្សេងៗក៏ដោយ ។ នៅសម័យព្រះពុទ្ធជាម្ចាស់ អ្នកដែលអាចកែប្រែខ្លួនឯងបាន ៣៦០ ឌឺក្រេ គឺជាអង្គុលីមាល៍ «អង្គុលីមាល៍ធ្លាប់សម្លាប់មនុស្សជាច្រើននាក់ ទីបំផុតបានកែប្រែខ្លួនឯងតាមរយៈការបានជួបព្រះពុទ្ធ និងបានស្តាប់ធម៌ឲកើតបញ្ញា រហូតបានសម្រេចធម៌ » ។  </a:t>
            </a:r>
            <a:endParaRPr lang="km-K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BCF330-7D9A-4348-BA2A-A3EE05C04E33}"/>
              </a:ext>
            </a:extLst>
          </p:cNvPr>
          <p:cNvSpPr/>
          <p:nvPr/>
        </p:nvSpPr>
        <p:spPr>
          <a:xfrm>
            <a:off x="2164931" y="2678057"/>
            <a:ext cx="48141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មនុស្សខឹងច្រើនជាមនុស្សឱបរងើកភ្លើងនិងស្ពាយទុក្ខ !</a:t>
            </a:r>
            <a:endParaRPr lang="km-KH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FAFEAE-BEDD-4C28-8DBF-5380856EE327}"/>
              </a:ext>
            </a:extLst>
          </p:cNvPr>
          <p:cNvSpPr/>
          <p:nvPr/>
        </p:nvSpPr>
        <p:spPr>
          <a:xfrm>
            <a:off x="625464" y="2981093"/>
            <a:ext cx="8451628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ឧទាហរណ៍៖​ ថ្ងៃមួយនៅក្នុងវត្តមានប្រារព្ធពិធីរាំលេងកំសាន្ត មានក្រុមយុវជនពីរក្រុម​ មករាំលេងកំសាន្តហើយមានបុគ្គលក្នុងក្រុមម្នាក់រាំលេងក៏ជ្រុលទៅជាន់ជើង បុរសម្នាក់ទៀតក្នុងក្រុមមួយទៀតដោយអចេតនា បុសរសម្នាក់នោះបានខឹងសម្បារយ៉ាងខ្លាំង ក៏ទោះបីជាបុរសម្នាក់ដែលបានជាន់ជើងនោះសុំទោសក៏ដោយ ក៏បុរសម្នាក់ទៀតនោះមិនព្រមស្តាប់ដែល ក៏បានវាយចំផ្ទៃមុខបុរសម្នាក់នោះជាច្រើនដៃ ។ ក្រុមទាំងពីបានវាយតបគ្នាផ្អើលអស់មនុស្សម្នា កន្លែងកំសាន្តបានក្លាយទៅជាកន្លែងហិង្សាទៅវិញ ។ លទ្ធផលចុងក្រោយបុរសដែលបានជាន់ជើងគេនោះ បានដេកពេទ្យអស់ ៣​ ខែ បុរសជាជនបង្កហិង្សាបានត្រូវជាប់គុក ៦ ខែ ហើយក្រុមយុវជនទាំងពីក្រុមបានជាប់គុកម្នាក់ផងដែរ ហើយត្រូវបង់លុយថែមទៀត ។ </a:t>
            </a: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3072121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DE675C-CDFF-46DD-99F7-545D7683D80A}"/>
              </a:ext>
            </a:extLst>
          </p:cNvPr>
          <p:cNvSpPr/>
          <p:nvPr/>
        </p:nvSpPr>
        <p:spPr>
          <a:xfrm>
            <a:off x="603175" y="574194"/>
            <a:ext cx="8473918" cy="2650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រឿងរ៉ាវខាងលើនេះ មកពីមិនចេះទប់កំហឹងហ្នឹងឯងបានជាវាបង្កទៅជាបែបនេះ ។ នៅមានរឿងហេតុផ្សេងៗជាច្រើមទៀតដែលកើតចេញពីការទប់កំហឹងមិនបាន ហើយក៏បង្កទៅជាជម្លោះ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កំហឹងអាចក្លាយទៅជាគគំនុំគុំកួន ជាការចងពៀរវេរាដល់គ្នា និងគ្នាមិនចេះចប់ រហូតដល់បាត់បង់ទ្រព្យសម្បតិ្ត អាយុជីវិត និងជាប់គុកច្រវាក់ជាដើម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បើយុវជន ចេះស្តាប់ដំបូន្មានឪពុកម្តាយ លោកគ្រូ ឬធ្លាប់ស្តាប់ធម៌អប់រំចិត្តនោះ ពេលកំហឹងកើតឡើង ពួកគាត់អាចត្រិះរិះពិចារណាដើម្បីទប់កំហឹងបានដូចជា នៅពេលទៅជួបមិត្តភ័ក្តិ ទៅដើរលេងកម្សាន្តក្នុងពិធីផ្សេងៗមានការប៉ះពាល់ ជាន់ជើងគ្នា ឬដោយហេតុណាមួយ គេនឹងចេះអត់ឱន អធ្យាស្រ័យ លើកដៃសំពះ សូមអភ័យគ្នាគឺចេះទប់កំហឹងតាំងពីក្នុងចិត្តមក មិនអាចប្រើអំពើហិង្សាជាដំណោះស្រាយនោះឡើយ ។ </a:t>
            </a:r>
            <a:endParaRPr lang="km-K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C4A01-A57D-4292-91E9-E2F14A66DB5F}"/>
              </a:ext>
            </a:extLst>
          </p:cNvPr>
          <p:cNvSpPr/>
          <p:nvPr/>
        </p:nvSpPr>
        <p:spPr>
          <a:xfrm>
            <a:off x="2388549" y="3874954"/>
            <a:ext cx="4366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800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ខឹងគុំកួនគឺចងកម្មពៀរគ្នាមិនចេះចប់ !</a:t>
            </a:r>
            <a:endParaRPr lang="km-KH" sz="1800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47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1197B8-7A88-44B1-B0A2-B58B02AB73DE}"/>
              </a:ext>
            </a:extLst>
          </p:cNvPr>
          <p:cNvSpPr/>
          <p:nvPr/>
        </p:nvSpPr>
        <p:spPr>
          <a:xfrm>
            <a:off x="691466" y="120710"/>
            <a:ext cx="24817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៣. គុណវិបត្តិនៃកំហឹង </a:t>
            </a:r>
            <a:endParaRPr lang="km-KH" sz="1600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pic>
        <p:nvPicPr>
          <p:cNvPr id="1026" name="Picture 2" descr="Conjunctivitis ឈឺភ្នែក និង ភ្នែកក្រហម | KHMERLING">
            <a:extLst>
              <a:ext uri="{FF2B5EF4-FFF2-40B4-BE49-F238E27FC236}">
                <a16:creationId xmlns:a16="http://schemas.microsoft.com/office/drawing/2014/main" id="{CEF38503-9F57-4E64-8706-974E1E329C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01"/>
          <a:stretch/>
        </p:blipFill>
        <p:spPr bwMode="auto">
          <a:xfrm>
            <a:off x="5887844" y="604025"/>
            <a:ext cx="3192502" cy="23101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EF143E-6B09-4203-B1BC-16AD1EB5067C}"/>
              </a:ext>
            </a:extLst>
          </p:cNvPr>
          <p:cNvSpPr/>
          <p:nvPr/>
        </p:nvSpPr>
        <p:spPr>
          <a:xfrm>
            <a:off x="616052" y="604025"/>
            <a:ext cx="5271791" cy="2327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ពេលមានកំហឹង បើយើងមិនអាចគ្រប់គ្រងវាបានទេ នោះកំហឹងនឹងគ្រប់គ្រងយើងវិញមិនខាន ហើយនឹងបញ្ជាយើងឲធ្វើអំពើអាក្រក់ចំពោះខ្លួនឯងនិងអ្នកដទៃ ។ កំហឹងជាដុំភ្លើងតែងឆេះក្នុងចិត្តនិងរាងកាយដែលអាចធ្វើឲភ្នែកនិងមុខប្រែជាក្រហម បេះដូងដើរខុសចង្វាក់ និង ញ័រដៃញ័រជើងជាដើម ។ កំហឹងគឺជាភ្លើងដែលមានកម្តៅរាប់រយអង្សារអាចដុតកម្តៅកោសិកាខួរក្បាលនិងចិត្តឲឆេះក្តៅ ក្រហល់ក្រហាយ ដែលគេអាចមើលឃើញតាមរយៈមុខមាត់ ពាក្យសម្តី និងទង្វើរបស់ខ្លួន ។ 	</a:t>
            </a:r>
            <a:endParaRPr lang="km-K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34563-BC85-42E2-93B6-7BC65E1BC7DA}"/>
              </a:ext>
            </a:extLst>
          </p:cNvPr>
          <p:cNvSpPr/>
          <p:nvPr/>
        </p:nvSpPr>
        <p:spPr>
          <a:xfrm>
            <a:off x="691466" y="3020028"/>
            <a:ext cx="27174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៣.១ ផលប៉ះពាល់ទូទៅនៃកំហឹង</a:t>
            </a:r>
            <a:endParaRPr lang="km-KH" sz="1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42921B-DF06-42E3-B87A-52549FDCE57D}"/>
              </a:ext>
            </a:extLst>
          </p:cNvPr>
          <p:cNvSpPr/>
          <p:nvPr/>
        </p:nvSpPr>
        <p:spPr>
          <a:xfrm>
            <a:off x="691466" y="3447025"/>
            <a:ext cx="8388880" cy="1681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កំហឹងអាចបង្កទៅជាអំពើអសីលធម៌ ខុសវិន័យ ខុសច្បាប់ និងទម្លាប់ផ្សេងៗក្នុងសង្គមមានដូចជា ៖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ធ្វើឲយើងចងគុំនំគុំកួន ព្យាបាទអ្នកដទៃនៅក្នុងចិត្ត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ធ្វើឲយើងជេរ ប្រទេច ប្រមាថ តាមពាក្យសំដី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ធ្វើឲយើងវាយទាត់ធាក់ សម្លាប់ដោយកាយកម្ម ( ទង្វើដោយកាយ 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ធ្វើឲយើងក្លាយទៅជាមនុស្សអាក្រក់ សាហាវ ឃោរឃៅ </a:t>
            </a:r>
          </a:p>
        </p:txBody>
      </p:sp>
    </p:spTree>
    <p:extLst>
      <p:ext uri="{BB962C8B-B14F-4D97-AF65-F5344CB8AC3E}">
        <p14:creationId xmlns:p14="http://schemas.microsoft.com/office/powerpoint/2010/main" val="3845797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75309C-2A3E-4AB9-8E25-8227B52E7582}"/>
              </a:ext>
            </a:extLst>
          </p:cNvPr>
          <p:cNvSpPr/>
          <p:nvPr/>
        </p:nvSpPr>
        <p:spPr>
          <a:xfrm>
            <a:off x="589625" y="516752"/>
            <a:ext cx="8390824" cy="4589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ធ្វើឲយើងល្ងិតល្ងង់ បាត់បញ្ញាស្មារតី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បំផ្លាញ់ភាពស្រស់ស្អាតនៅលើមុខរបស់យើង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ធ្វើឲយើងក្លាយទៅជាមុខយក្ស សូម្បីតែខ្លួនឯងក៏មិនហ៊ានឆ្លុះកញ្ចក់ផង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ធ្វើឲបាត់បង់ការគោរពនិងក្តីស្រលាញ់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ធ្វើឲយើងធ្លាក់នរកទាំងរស់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ធ្វើឲជីវិតរបស់យើងគ្មានសេចក្តីសុខទាំងផ្លូវកាយនិងផ្លូវចិត្ត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ធ្វើឲអ្នកស្រលាញ់ ប្រែទៅជាស្អប់និងបែកបាក់គ្នា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ធ្វើឲប្តីប្រពន្ធឈ្លោះប្រកែកគ្នា វាយទាត់ធាក់ និងប្រើអំពើហិង្សា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ធ្វើឲបែកបាក់ព្រាត់ប្រាស់គ្រួសារ បន្សល់ទុកនូវកូនកំព្រា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ធ្វឲគ្រួសារទៅជាក្រលំបាក បែកបាក់គ្នា និងជាប់គុកច្រវាក់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ធ្វើឲមិត្ត ក្លាយជាសត្រូវ ហើយមានអ្នកស្អប់គ្រប់ទិសទី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ធ្វើឲអ្នកធំ ធ្វើបាបអ្នកតូច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ធ្វើឲអ្នកតូចចងគុំនំគុំកួន ចងអាឃាតអ្នកធំ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ធ្វើឲយើងបាត់បង់ការងារ និងបែកបាក់សាមគ្គីមិត្តរួមការងារ</a:t>
            </a:r>
          </a:p>
        </p:txBody>
      </p:sp>
    </p:spTree>
    <p:extLst>
      <p:ext uri="{BB962C8B-B14F-4D97-AF65-F5344CB8AC3E}">
        <p14:creationId xmlns:p14="http://schemas.microsoft.com/office/powerpoint/2010/main" val="799362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3A159A-4041-4521-A34F-CB33EA92CFDC}"/>
              </a:ext>
            </a:extLst>
          </p:cNvPr>
          <p:cNvSpPr/>
          <p:nvPr/>
        </p:nvSpPr>
        <p:spPr>
          <a:xfrm>
            <a:off x="643053" y="506539"/>
            <a:ext cx="8448908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ធ្វើឲមិនមានភាពរីកចម្រើន និងបង្កជាជម្លោះបែកបាក់សាមគ្គីផ្ទៃក្នុង នៅក្នុងអង្គភាព ស្ថានប័ន និងសង្គម ។ល។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ជារួម កំហឹងនាំឲអន្តរាយដល់ខ្លួន អ្នកជុំវិញ គ្រួសារ ស្ថានប័ន និងសង្គម ដូចជា ដុំរងើកភ្លើងដែលឆេះហើយឆ្លងទៅឆេះវត្ថុដទៃ ។ នៅទីបំផុតអ្វីៗទាំងអស់ក៏ក្លាយទៅជាផេះផង់ទាំងអស់ ។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6BA124-76FC-4B0B-A1DD-344E06B83299}"/>
              </a:ext>
            </a:extLst>
          </p:cNvPr>
          <p:cNvSpPr/>
          <p:nvPr/>
        </p:nvSpPr>
        <p:spPr>
          <a:xfrm>
            <a:off x="643054" y="1474023"/>
            <a:ext cx="84489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៣.២ ផលប៉ះពាល់នៃកំហឹងតាមលក្ខណៈសាសនា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F3908-E9C1-40E9-A0D3-A69ECCC84AD0}"/>
              </a:ext>
            </a:extLst>
          </p:cNvPr>
          <p:cNvSpPr/>
          <p:nvPr/>
        </p:nvSpPr>
        <p:spPr>
          <a:xfrm>
            <a:off x="643054" y="1846444"/>
            <a:ext cx="8448907" cy="3297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ព្រះពុទ្ធទ្រង់ត្រាស់សម្តែងទុកមកច្រើនទាក់ទងទៅនឹងទោសនៃកំហឹងដូចជា ៖ </a:t>
            </a:r>
          </a:p>
          <a:p>
            <a:pPr marL="342900" indent="-342900">
              <a:lnSpc>
                <a:spcPct val="150000"/>
              </a:lnSpc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បុគ្គលមានកំហឹងរមែងមានពណ៌សម្បុរមិនស្អាត ដេកជាទុក្ខ បែកមិត្ត អស់យស ។ល។​​​ បុគ្គលអ្នកមានកំហឹងមិនដឹងថា សេចក្តីកំហឹងនោះគឺជាភ័យដែលកើតឡើងក្នុងខ្លួនទេ ។ </a:t>
            </a:r>
          </a:p>
          <a:p>
            <a:pPr marL="342900" indent="-342900">
              <a:lnSpc>
                <a:spcPct val="150000"/>
              </a:lnSpc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បុគ្គលអ្នកមានកំហឹងរមែងមិនដឹងប្រយោជន៍ រមែងមិនឃើញធម៌ ។ បុគ្គលមានកំហឹង គ្របសង្កត់មានតែភាពងងឹងប៉ុណ្ណោះ ។ អ្នកមានកំហឹងធ្វើនូវអំពើអាក្រក់បានដោយងាយ ហាក់ដូចជា ធ្វើអំពើល្អដែរ ប៉ុន្តែលុះដល់ក្រោយមក កាលបើបាត់កំហឹងហើយ​​ ក៏មានការក្តៅក្រហាយស្តាយក្រោយដូចជា​ ត្រូវភ្លើងឆេះ ។ </a:t>
            </a:r>
          </a:p>
          <a:p>
            <a:pPr marL="342900" indent="-342900">
              <a:lnSpc>
                <a:spcPct val="150000"/>
              </a:lnSpc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មនុស្សមានកំហឹងរមែងសម្តែងនូវមុខក្រញូវជាដំបូង ដូចភ្លើងមុននឹងឆេះ រមែងញ៉ាំងផ្សែងឲកើតឡើងសិន លុះដល់កាលណាសេចក្តីក្រោធសម្តែងនូវតេជានុភាពហើយ កាលនោះ មនុស្សមានកំហឹងរមែងមិនខ្លាចអ្វីឡើយ ការខ្មាសអៀនក៏មិនមាន សេចក្តីគោរពក៏មិនមាន ហើយគេរមែងធ្វើអំពើវិនាសផ្សេងៗ ដូចជាភ្លើងឆេះព្រៃ ឬឆេះភូមិអ្នកស្រុកដូច្នោះឯង ។ </a:t>
            </a:r>
          </a:p>
        </p:txBody>
      </p:sp>
    </p:spTree>
    <p:extLst>
      <p:ext uri="{BB962C8B-B14F-4D97-AF65-F5344CB8AC3E}">
        <p14:creationId xmlns:p14="http://schemas.microsoft.com/office/powerpoint/2010/main" val="3081273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60F66D-1A7F-48DF-AA89-BB00B4BB3172}"/>
              </a:ext>
            </a:extLst>
          </p:cNvPr>
          <p:cNvSpPr/>
          <p:nvPr/>
        </p:nvSpPr>
        <p:spPr>
          <a:xfrm>
            <a:off x="620750" y="513465"/>
            <a:ext cx="8434039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	មនុស្សមានកំហឹងសម្លាប់ឪពុកម្តាយរបស់ខ្លួនឯងក៏បាន សម្លាប់ព្រះអរហន្តក៏បាន សម្លាប់មនុស្សណាៗក៏បានទាំងអស់ សូម្បីតែខ្លួនឯង ។ គ្រោះកាចអ្វីស្មើនឹងទោសៈមិនបាន ។ កំហុសអ្វីស្មើនឹងទោសៈមិនបាន ។ កំហឹងមានទោសៈបង្កផលអាក្រក់ឲមកច្រើនសន្ធឹកសន្ធាប់ ។ សូម្បីរឿងរ៉ាវនៅក្នុងនិទានផ្សេងៗ និងរឿងរ៉ាវក្នុងជីវិតបច្ចុប្បន្នពិតៗ ក៏មានសន្ធឹកសន្ធាប់ដែរ សុទ្ធតែបង្ហាញឲយើងឃើញថា « </a:t>
            </a: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ការខឹងក្រោធមានតែធ្វើ ឲកើតនូវសេចក្តីវិនាសខូចខាត មិនមានផលអ្វីល្អទេ បើគួរកម្ចាត់បង់ចោល មិនត្រូវទុកវាឲឋិតនៅឡើង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»  ។ ( ប៊ុត សាវង្ស , ២០២២ )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</a:p>
        </p:txBody>
      </p:sp>
      <p:pic>
        <p:nvPicPr>
          <p:cNvPr id="2052" name="Picture 4" descr="មិន​មាន​ការពណ៌នា​រូបថត​ទេ។">
            <a:extLst>
              <a:ext uri="{FF2B5EF4-FFF2-40B4-BE49-F238E27FC236}">
                <a16:creationId xmlns:a16="http://schemas.microsoft.com/office/drawing/2014/main" id="{A870BC93-811B-4FD3-B42A-7AE32D98D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571749"/>
            <a:ext cx="5143500" cy="26544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786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69EA69-8232-47D2-A530-7764F6FD570B}"/>
              </a:ext>
            </a:extLst>
          </p:cNvPr>
          <p:cNvSpPr/>
          <p:nvPr/>
        </p:nvSpPr>
        <p:spPr>
          <a:xfrm>
            <a:off x="646371" y="128145"/>
            <a:ext cx="36231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៣.៣ ផលប៉ះពាល់់់នៃកំហឹងបែបវេជ្ជសាស្ត្រ</a:t>
            </a:r>
            <a:endParaRPr lang="km-KH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9FA0D-9C35-4AA7-ABD7-A484BA0511B9}"/>
              </a:ext>
            </a:extLst>
          </p:cNvPr>
          <p:cNvSpPr/>
          <p:nvPr/>
        </p:nvSpPr>
        <p:spPr>
          <a:xfrm>
            <a:off x="646371" y="626233"/>
            <a:ext cx="84307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ហេតុអ្វីបានជាកំហឹងផ្តល់ផលអាក្រក់ចំពោះសុខភាព ?</a:t>
            </a:r>
            <a:endParaRPr lang="km-KH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62352A-48CD-4EFF-81B9-BB3B6A4BCB29}"/>
              </a:ext>
            </a:extLst>
          </p:cNvPr>
          <p:cNvSpPr/>
          <p:nvPr/>
        </p:nvSpPr>
        <p:spPr>
          <a:xfrm>
            <a:off x="646372" y="1124321"/>
            <a:ext cx="84307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ឥទ្ធិពលអាក្រក់របស់កំហឹងនឹងចោទជាបញ្ហាដល់សុខភាពរាងកាយរបស់យើងរួមមាន ៖ </a:t>
            </a:r>
          </a:p>
          <a:p>
            <a:pPr>
              <a:tabLst>
                <a:tab pos="684213" algn="l"/>
              </a:tabLst>
            </a:pPr>
            <a:endParaRPr lang="km-K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81F79-D1B7-40B6-87E5-F1A5D4401548}"/>
              </a:ext>
            </a:extLst>
          </p:cNvPr>
          <p:cNvSpPr/>
          <p:nvPr/>
        </p:nvSpPr>
        <p:spPr>
          <a:xfrm>
            <a:off x="1382751" y="1647541"/>
            <a:ext cx="7761249" cy="296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ធ្វើឲក្រពះមានភាពមិនប្រក្រតី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ឈឺក្បាល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ជំងឺបេះដូង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ជំងឺធ្លាក់ទឹកចិត្តក្នុងកម្រិតស្រាល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ជំងឺលើសសម្ពាធឈាម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ការវាយប្រហាររបស់ភាពថប់អារម្មណ៍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ជំងឺថប់បារម្ភ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មានជំងឺជារឿយៗ ។ ( ហេតុអ្វីបានជាការខឹងផ្តល់ផលអាក្រក់ចំពោះសុខភាព ?​ 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tabLst>
                <a:tab pos="684213" algn="l"/>
              </a:tabLst>
            </a:pP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3880570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587644-464E-45E7-A8F0-2742AAD8F467}"/>
              </a:ext>
            </a:extLst>
          </p:cNvPr>
          <p:cNvSpPr/>
          <p:nvPr/>
        </p:nvSpPr>
        <p:spPr>
          <a:xfrm>
            <a:off x="676107" y="157882"/>
            <a:ext cx="36182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៣.៤ ផលប៉ះពាល់កម្រិតធ្ងន់មកលើខ្លួនឯង</a:t>
            </a:r>
            <a:endParaRPr lang="km-KH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2A7B2-7742-405E-974C-949D6B4942C5}"/>
              </a:ext>
            </a:extLst>
          </p:cNvPr>
          <p:cNvSpPr/>
          <p:nvPr/>
        </p:nvSpPr>
        <p:spPr>
          <a:xfrm>
            <a:off x="676107" y="603932"/>
            <a:ext cx="83861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ការធ្វើអត្តឃាតព្រោះខឹងខ្លួនឯង</a:t>
            </a:r>
            <a:endParaRPr lang="km-KH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D24A0-1C15-419F-B714-0DDC7B5EE03E}"/>
              </a:ext>
            </a:extLst>
          </p:cNvPr>
          <p:cNvSpPr/>
          <p:nvPr/>
        </p:nvSpPr>
        <p:spPr>
          <a:xfrm>
            <a:off x="609198" y="876947"/>
            <a:ext cx="8386117" cy="4266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413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បច្ចុប្បន្ន​ យើងឃើញមានការធ្វើអត្តឃាត ( ការសម្លាប់ខ្លួន ) ជាច្រើន ដោយលេបថ្នាំ ចងក ឬលោតទឹក សម្លាប់ខ្លួនជាដើម ។ យោងតាមធនាគាពិភពលោកបានឲដឹងថា ជារៀងរាល់ឆ្នាំមានមនុស្សជាង ៧ សែននាក់បានសម្លាប់ខ្លួនទូទាំងពិភពលោក ក្នុងនោះការសម្លាប់ខ្លួន  ៧៧% កើតឡើងនៅក្នុងប្រទេសដែលមានប្រាក់ចំណូលតិច និងមធ្យម ។ ចំណែកអត្រាសម្លាប់ខ្លួននៅក្នុងប្រទេសកម្ពុជានៅឆ្នាំ ២០១៩ មាន ៤,៩% ក្នុងចំណោមប្រជាជន ១ សែននាក់ (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WB, 2022 )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។ យោងតាមអង្គការសុខភាពពិភពលោក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( WHO, 2022 )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បានឲដឹងថា ភាគច្រើនអ្នកដែលសម្លាប់ខ្លួនគឺជាអ្នកដែលមានវិបត្តិដូចជា ៖ ១. ហិរញ្ញវត្ថុ ២. បែកបាក់ទំនាក់ទំនង និង ៣. មានជំងឺព្យាបាលមិនជានិងមានការឈឺចាប់រ៉ាំវៃ (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S o n y a 2022 )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។ </a:t>
            </a:r>
          </a:p>
          <a:p>
            <a:pPr>
              <a:lnSpc>
                <a:spcPct val="150000"/>
              </a:lnSpc>
              <a:tabLst>
                <a:tab pos="341313" algn="l"/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	ការកើតមានវិបត្តិផ្សេងៗ ភាពក្រីក្រលំបាក វិបត្តិការងារធ្ងន់ធ្ងូរ ការបែកបាក់ស្នេហា ការមានជំងឺព្យាបាលមិនជា ឪពុកម្តាយ ឬអាណាព្យាបាលស្តីបន្ទោសជាដើម អាចធ្វើឲយើងខឹងនឹងខ្លួនឯងនិងអ្នកដទៃ ដែលជាមូលហេតុជំរុញឲយើងសម្រេចចិត្តខុស ។ ពេលមានកំហឹង មិនថា យើងរៀនដល់កម្រិតណា មានចំណេះដឹងប៉ុណ្ណាទេ ប្រសិនបើយើងបណ្តោយឲកើតមានកំហឹងនោះដល់កម្រិតហើយ ទោះបីយើងមានចំណេះដឹងខ្លាំងប៉ុណ្ណា ក៏នឹងរលាយគ្មានសល់ដែរ ។ ក្នុងខណៈនោះធ្វើឲកំហឹងមានឱកាសជំរុញចិត្តឲធ្វើខុស ដូចជាទៅសម្លាប់ខ្លួនឯង ឬសម្លាប់អ្នកដទៃ សូម្បីតែរឿងបន្តិចបន្តួចក៏ដោយ ។ </a:t>
            </a:r>
            <a:endParaRPr lang="km-KH" b="1" dirty="0"/>
          </a:p>
        </p:txBody>
      </p:sp>
    </p:spTree>
    <p:extLst>
      <p:ext uri="{BB962C8B-B14F-4D97-AF65-F5344CB8AC3E}">
        <p14:creationId xmlns:p14="http://schemas.microsoft.com/office/powerpoint/2010/main" val="3082815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8A6BDAF-4E01-4797-B02F-CBD58AA11D41}"/>
              </a:ext>
            </a:extLst>
          </p:cNvPr>
          <p:cNvSpPr/>
          <p:nvPr/>
        </p:nvSpPr>
        <p:spPr>
          <a:xfrm>
            <a:off x="624069" y="633666"/>
            <a:ext cx="8445590" cy="4589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សូម្បីតែរឿងបន្តិចបន្តួចក៏ដោយ ។ តាមព័ត៌មាន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Post News Media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មាន ( យុវជនម្នាក់ខឹងខ្លួនឯង ឈឺច្រើនមើលមិនជា គិតខ្លីធ្វើអត្តឃាតចងកសម្លាប់ខ្លួន, ២០២២ ) និងមានព័ត៌មានជាច្រើនទៀតដែលទាក់ទងនឹងការធ្វើអត្តឃាតនេះ ។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មួយក្នុងចំណោមការធ្វើអត្តឃាតគឺកាខឹងនឹងរឿងរ៉ាវអ្វីមួយ ដែលមិន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សមបំណងដូចជា ការធ្វើខុស ការត្រូវគេបោកប្រាស់ ការមានជំងឺ វាធ្វើឲមានការ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ថប់រម្ភ ការធុញថបនិងខឹងខ្លួនឯង ។ ពេលមានហេតុបែបនេះកើតឡើងជារឿងៗ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ចាប់ស្តីបន្ទោសឲខ្លួនឯង ខឹងខ្លួនឯង លែងមើលឃើញតម្លៃខ្លួនឯង ឈប់លើក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ទឹកចិត្តខ្លួនឯង និងអស់សង្ឃឹមហើយទីបំផុតទៅសម្លាប់ខ្លួន ដូចជា មនុស្សដែល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ត្រូវគេបោកប្រាស់ស្នេហាជាដើម ។ ចាស់បុរាណតែងនិយាយថា ពេលខឹង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កម្រោលចូល ។ ​  បើទោះបីជាខឹងខ្លួនឯង ឬអ្នកណាក៏ដោយ ពេលខឹងរហូតដល់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កម្រោលចូលហើយ បើគិតចង់សម្លាប់ខ្លួនឯង គឺនឹងនឹករកតែវិធីធ្វើយ៉ាងណា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ដើម្បីសម្លាប់ខ្លួនឯងប៉ុណ្ណោះ ។ ដំណាក់កាលបែបនេះ ទាល់តែមានអ្នកនៅក្បែរជួយដាស់សតិ រំលឹក និយាយលើកទឹកចិត្ត និងកែប្រែស្ថានភាពនោះ ទើបអាចឆ្លងផុតបាន ។ នរណាក៏អាចធ្លាក់ចូលទៅក្នុងស្ថានភាពបែបនោះបានដែរ  ឲតែកម្រិតនៃបញ្ហាឡើងដល់កំពូល ការធ្លាក់កកម្លាំងចិត្តខាងក្នុងរហូតដល់ចំណុចសូន្យ និងការខឹងនឹងខ្លូនឯងខ្លាំងដល់កម្រិតខ្លាំងបំផុត ។ ទោះបីជាយ៉ាណា បើយើងធ្លាប់រៀនហ្វឹកហាត់គ្រប់គ្រងកំហឹងខ្លួនឯងនោះយើងនឹងអាចទប់មិនឲខឹងចំពោះខ្លួនឯង ហើយ</a:t>
            </a:r>
            <a:endParaRPr lang="km-KH" dirty="0"/>
          </a:p>
        </p:txBody>
      </p:sp>
      <p:pic>
        <p:nvPicPr>
          <p:cNvPr id="3074" name="Picture 2" descr="អត្រាអ្នកធ្វើអត្តឃាតកើនឡើងខ្ពស់គួរឱ្យកត់សម្គាល់ ព្រោះមូលហេតុមួយ - TNAOT">
            <a:extLst>
              <a:ext uri="{FF2B5EF4-FFF2-40B4-BE49-F238E27FC236}">
                <a16:creationId xmlns:a16="http://schemas.microsoft.com/office/drawing/2014/main" id="{8BEF1EEF-C443-476A-9CBB-CFDAC38D58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85"/>
          <a:stretch/>
        </p:blipFill>
        <p:spPr bwMode="auto">
          <a:xfrm>
            <a:off x="6130363" y="1345399"/>
            <a:ext cx="2939296" cy="252779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443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អត្រានៃការធ្វើអត្តឃាត ក្នុងឆ្នាំ ២០១៨ ប្រទេសណាសាហាវជាងគេ? - Health.com.kh">
            <a:extLst>
              <a:ext uri="{FF2B5EF4-FFF2-40B4-BE49-F238E27FC236}">
                <a16:creationId xmlns:a16="http://schemas.microsoft.com/office/drawing/2014/main" id="{B3B409E9-E438-44E1-A394-F0B3AD5CC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347" y="603929"/>
            <a:ext cx="3479180" cy="22971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5E6674-337C-4BB6-83BC-E4CE56C1AD60}"/>
              </a:ext>
            </a:extLst>
          </p:cNvPr>
          <p:cNvSpPr/>
          <p:nvPr/>
        </p:nvSpPr>
        <p:spPr>
          <a:xfrm>
            <a:off x="647464" y="603929"/>
            <a:ext cx="5061960" cy="4946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អាចបញ្ឈប់នូវការគិតខុសទាំងនោះបាន ពីព្រោះក្នុងចំណោមបីចំណុចខាងលើនេះ បើទល់ខ្លួនឯងមិនឲខឹងហើយ បញ្ញាយើងនិងកើត ហើយអាចដោះស្រាយ បញ្ហាបានតាមពេលវេលា ។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ការធ្វើអត្តឃាតព្រោះខឹងអ្នកដទៃ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អ្នកដទៃដែលអាចធ្វើឲយើងខឹង រហូតដល់អាចឈានទៅដល់ការសម្លាប់ខ្លួនគឺមនុស្សដែលជាសាច់ញាតិ ឪពុកម្តាយ អាណាព្យាបាល ជាពិសេសមនុស្សដែលយើងស្រលាញ់​ ជឿទុកចិត្ត ឬដៃគូស្នេហា ។ ពេលធ្វើអ្វីមួយហើយត្រូវសាច់ញាតិ ឪពុកម្តាយ អាណាព្យាបាល ស្តីបន្ទោសថាឲ ដែលធ្វើឲយើងតូចចិត្ត ខឹងនឹងពួកគាត់វិញ ហើយធ្វើប្រជួសដោយការធ្វើអត្តឃាតតាមវិធីផ្សេងៗដូចជា មានឧទាហរណ៍ជាក់ស្តែងពីក្មេងស្រី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អាយុ ១៥ ឆ្នាំ ម្នាក់ បានចងកសម្លាប់ខ្លួន ( ដោយសារខឹងឪពុកម្តាយស្តី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បន្ទោស នារីម្នាក់ដាច់ចិត្តធ្វើអត្តឃាតបញ្ចប់ជីវិត, ២០២២ )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>
              <a:solidFill>
                <a:schemeClr val="bg1">
                  <a:lumMod val="10000"/>
                </a:schemeClr>
              </a:solidFill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m-KH" dirty="0"/>
          </a:p>
        </p:txBody>
      </p:sp>
      <p:pic>
        <p:nvPicPr>
          <p:cNvPr id="4098" name="Picture 2" descr="មិន​មាន​ការពណ៌នា​រូបថត​ទេ។">
            <a:extLst>
              <a:ext uri="{FF2B5EF4-FFF2-40B4-BE49-F238E27FC236}">
                <a16:creationId xmlns:a16="http://schemas.microsoft.com/office/drawing/2014/main" id="{B002599B-2B65-4B76-9138-6BEF524F0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424" y="3003537"/>
            <a:ext cx="3375103" cy="204041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000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27E240-D07D-482C-A0B7-F4E190D63687}"/>
              </a:ext>
            </a:extLst>
          </p:cNvPr>
          <p:cNvSpPr/>
          <p:nvPr/>
        </p:nvSpPr>
        <p:spPr>
          <a:xfrm>
            <a:off x="656980" y="808677"/>
            <a:ext cx="4992971" cy="3943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មួយវិញទៀត ការខឹងនឹងដៃគូរស្នហាក្បត់ចិត្ត ខឹងប្រពន្ធក្បត់ចិត្ត ខឹងប្តីមានស្រីជាដើម ជាហេតុជួយជំរុញទៅរកការធ្វើអត្តឃាតបាន ។យើងឃើញអ្នកមានវិបត្តិស្នេហាបែបនេះបានលោតទឹក ចងក និងធ្វើអត្តឃាតតាមវិធីផ្សេងៗជាច្រើន ។ អ្នកត្រូវគេក្បត់ចិត្តកើតការអស់សង្ឃឹម បាត់បង់ជំនឿចិត្ត បាក់ទឹកចិត្ត ខឹងនឹងគេក្បត់ ដូច្នេះមានតែបញ្ចប់ជីវិតខ្លួនឯងដើម្បីឲគេដឹងខ្លួននិងឈឺចាប់នៅពេលដែលខ្លួនស្លាប់ទៅ ។ តាមពិតមនុស្សដែលគេក្បត់យើងហើយ គេមិនមានអ្វីស្តាយស្រណោះយើងនោះទេ ។ បើយើងស្លាប់ដោយសារខឹងគេ ហើយធ្វើប្រជួសឲគេដឹងខ្លួន នោះអ្នកដែលរងទុក្ខកាន់តែធ្ងន់នោះ គឺខ្លួនយើងតែម្តង ។ ក្នុងករណីតើតរឿងបែបនេះ យើងគួររកវិធីទប់កំហឹងរបស់ខ្លួនឲបាន កុំឲខឹងគេ និងខឹងខ្លួនឯង តាមវិធីណាមួយខាងក្រោម ។ នោះយើងនឹងឆ្លងផុតដំណាក់កាលដ៏លំបាកនោះមិនខាន ។  </a:t>
            </a:r>
            <a:endParaRPr lang="km-KH" dirty="0"/>
          </a:p>
        </p:txBody>
      </p:sp>
      <p:pic>
        <p:nvPicPr>
          <p:cNvPr id="6146" name="Picture 2" descr="កុំបង្ខំខ្លួនឯងឱ្យបំភ្លេចនរណាម្នាក់ភ្លាមៗពេក - TNAOT">
            <a:extLst>
              <a:ext uri="{FF2B5EF4-FFF2-40B4-BE49-F238E27FC236}">
                <a16:creationId xmlns:a16="http://schemas.microsoft.com/office/drawing/2014/main" id="{13530D3B-87D3-480C-8052-F0B940A03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51" y="589061"/>
            <a:ext cx="3397405" cy="20649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មូលហេតុដែលអ្នកបែកបាក់ស្នេហា ត្រូវឈឺចាប់ខ្លាំង - Ahladang | អាឡាដាំង">
            <a:extLst>
              <a:ext uri="{FF2B5EF4-FFF2-40B4-BE49-F238E27FC236}">
                <a16:creationId xmlns:a16="http://schemas.microsoft.com/office/drawing/2014/main" id="{1AF7DB29-79C3-485F-B83E-257E7A15D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51" y="2780371"/>
            <a:ext cx="3397405" cy="226731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591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0CF2C15-D8B3-4F7D-BE3D-F35F8EBCA94C}"/>
              </a:ext>
            </a:extLst>
          </p:cNvPr>
          <p:cNvSpPr/>
          <p:nvPr/>
        </p:nvSpPr>
        <p:spPr>
          <a:xfrm>
            <a:off x="663973" y="761856"/>
            <a:ext cx="83982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ការប្រើហិង្សា</a:t>
            </a:r>
            <a:endParaRPr lang="km-KH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09773-D6D0-4025-B7CE-9368FA93B90C}"/>
              </a:ext>
            </a:extLst>
          </p:cNvPr>
          <p:cNvSpPr/>
          <p:nvPr/>
        </p:nvSpPr>
        <p:spPr>
          <a:xfrm>
            <a:off x="663973" y="128146"/>
            <a:ext cx="83982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៣.៥ ផលប៉ះពាល់កម្រិតធ្ងន់មកលើអ្នកដទៃ</a:t>
            </a:r>
            <a:endParaRPr lang="km-KH" sz="1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82CFB-3133-45BC-A99E-8EB233CFFEB0}"/>
              </a:ext>
            </a:extLst>
          </p:cNvPr>
          <p:cNvSpPr/>
          <p:nvPr/>
        </p:nvSpPr>
        <p:spPr>
          <a:xfrm>
            <a:off x="623085" y="1249947"/>
            <a:ext cx="8480027" cy="3297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ទម្រង់នៃអំពើហិង្សាភាគច្រើនកើតឡើងក្នុងគ្រួសារនិង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សង្គម ៖ ប្តីវាយប្រពន្ធព្រោះឈ្លោះប្រកែកចង់ឈ្នះចាញ់ ប្រច័ណ្ឌ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និងសង្ស័យលើគ្នាជាដើម ។ ឪពុកម្តាយវាយកូន យាយវាយចៅ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ខឹងនឹងការធ្វើអ្វីមួយមិនតាមបំណង ។ ក្នុងកន្លែងការងារ កូនចៅ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កម្មករ អ្នកក្រោមបង្គាប់ធ្វើមិនត្រូវចិត្ត ធ្វើឲកើតការខឹង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សម្បារ ហើយជេរ ប្រទេច វាយដំជាដើម ។ ហេតុណាមួយក៏ដោយ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ឲតែផ្តើមពីការខឹង ហើយបង្កជាជម្លោះ ជេរស្តីថា រួចវាយដំជាដើម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ហៅថា អំពើហិង្សាដោយកំហឹង ។ មូលហេតុពិតនៃអំពើហិង្សា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គឺមិនមែនស្ថិតនៅក្នុងសកម្មភាពមនុស្សនោះទេគឺវាស្ថិតនៅក្នុងបេះដូង និងចិត្តគំនិតរបស់មនុស្សយើង ( ម៉កខុនណែល, ២០០៤ ) ។ មានរឿងរ៉ាវជាក់ស្តែងច្រើនណាស់ដែលជាអំពើហិង្សាកើតចេញពីការមិនចេះទប់កំហឹង ។ </a:t>
            </a:r>
            <a:endParaRPr lang="km-KH" dirty="0"/>
          </a:p>
        </p:txBody>
      </p:sp>
      <p:pic>
        <p:nvPicPr>
          <p:cNvPr id="7170" name="Picture 2" descr="ប្រសិទ្ធភាពការអនវុត្តច្បាប់ប្រឆាំងអំពើហិង្សាក្នុងគ្រួសារនៅថ្នាក់ឃុំ">
            <a:extLst>
              <a:ext uri="{FF2B5EF4-FFF2-40B4-BE49-F238E27FC236}">
                <a16:creationId xmlns:a16="http://schemas.microsoft.com/office/drawing/2014/main" id="{951F5820-1FF6-40F3-A455-D111CF260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658" y="765774"/>
            <a:ext cx="3686567" cy="29066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8221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7336B6-B754-432A-AACC-A36BDE5E4C53}"/>
              </a:ext>
            </a:extLst>
          </p:cNvPr>
          <p:cNvSpPr/>
          <p:nvPr/>
        </p:nvSpPr>
        <p:spPr>
          <a:xfrm>
            <a:off x="638427" y="128144"/>
            <a:ext cx="84163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ការធ្វើមនុស្សឃាត ( ការសម្លាប់មនុស្ស )</a:t>
            </a:r>
            <a:endParaRPr lang="km-KH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73A927-EFA0-424A-AC8B-59724AE96B24}"/>
              </a:ext>
            </a:extLst>
          </p:cNvPr>
          <p:cNvSpPr/>
          <p:nvPr/>
        </p:nvSpPr>
        <p:spPr>
          <a:xfrm>
            <a:off x="638426" y="715442"/>
            <a:ext cx="8416363" cy="3943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3182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លើសពីការប្រើហិង្សា ការខឹងប្តី ខឹងប្រពន្ធ ខឹងកូន  ខឹងញាតិ  ខឹងនិងមិត្តរួមការងារ ខឹងអ្នកធំជាង ឬខឹងនរណាក៏ដោយ ដែលមានលក្ខណៈធ្ងន់ធ្ងរ រហូតដល់មោហ៍បាំង ធ្វើឲលែងស្គាល់ខុសត្រូវ  ឈានទៅដល់ការបៀតបៀន និងផ្តាច់ជីវិតភាគីម្ខាងទៀត ។ </a:t>
            </a:r>
          </a:p>
          <a:p>
            <a:pPr>
              <a:lnSpc>
                <a:spcPct val="150000"/>
              </a:lnSpc>
              <a:tabLst>
                <a:tab pos="63182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ឧទាហរណ៍ ៖ ស្រី្តម្នាក់ខឹងប្តីផឹកស្រាស្រវឹង តែងរករឿងវាយគាត់ រហូតគាត់ទប់មិនបានទាញដំបងវាយប្តីគាត់រហូតដល់ស្លាប់ ។ ឯបុរសម្នាក់ទៀត ដោយសារតែភ្លើងប្រចណ្ឌ និងកើតកំហឹង បានសម្លាប់ប្រពន្ធដោយយកដៃក្រៀក ក និងប្រតាយប្រតបគ្នា រហូតដល់ស្ត្រីជាប្រពន្ធដាច់ខ្យល់ស្លាប់ ។ ចំណែករឿងថ្មីមួយទៀតនៃការ បាញ់សម្លាប់លោក ស៊ិន ស៊ូអាបេ កាលពីថ្ងៃសុក្រ ទី៨ កក្កដា ឆ្នាំ ២០២២ ដោយខ្មាំងកាំភ្លើងម្នាក់អាយុ ៤១​ ឆ្នាំ ឈ្មោះ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Tetuya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r>
              <a:rPr lang="en-US" dirty="0" err="1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Yamagami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 .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។ បើតាមចម្លើយរបស់គាត់គឺខឹងនឹងលោកអាបេ ដោយសារយល់ថាលោកនៅពីក្រោយអង្គការសាសនាមួយដែលបានធ្វើឲគ្រួសារគាត់បែកបាក់ ។ រូបគេមួម៉ៅខឹងសម្បានឹងលោកអាបេ ហើយថាគេបានបាញ់សំដៅលើលោកអាបេក្នុងគោលបំណងសម្លាប់តែម្តង ( ព័ត៌មានអន្តរជាតិ,២០២២ ) ។ </a:t>
            </a:r>
          </a:p>
          <a:p>
            <a:pPr>
              <a:lnSpc>
                <a:spcPct val="150000"/>
              </a:lnSpc>
              <a:tabLst>
                <a:tab pos="63182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មានរឿងឧទាហរណ៍ជាច្រើនដែលយើងអាចមើលឃើញថា វាជាហេតុបង្កដោយកំហឹង ដែលមិនបានរកវិធីគ្រប់គ្រងវាតាំងពីក្នុងខ្លួនឲបានទាន់ពេលវេលា ។ </a:t>
            </a: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338239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41D0F8-E9A6-421A-864C-129205B36A20}"/>
              </a:ext>
            </a:extLst>
          </p:cNvPr>
          <p:cNvSpPr/>
          <p:nvPr/>
        </p:nvSpPr>
        <p:spPr>
          <a:xfrm>
            <a:off x="647528" y="113276"/>
            <a:ext cx="18934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៣.៦ លទ្ធផលកំហឹង </a:t>
            </a:r>
            <a:endParaRPr lang="km-KH" sz="16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67A49A-2119-4DE0-9AFD-871DC955AA7D}"/>
              </a:ext>
            </a:extLst>
          </p:cNvPr>
          <p:cNvSpPr/>
          <p:nvPr/>
        </p:nvSpPr>
        <p:spPr>
          <a:xfrm>
            <a:off x="647528" y="611364"/>
            <a:ext cx="8429565" cy="2262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កំហឹងក្នុងចិត្ត ៖ 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ក្តៅក្រហាយ មួរម៉ៅ ឆេវឆៅ គ្មានក្តីសុខ និងមានជំងឺផ្លូវចិត្ត និងផ្លូវកាយ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កំហឹងតាមវាចា  ៖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ប្រកែកគ្នា ជេរប្រទេច ស្តីថាឲ ឈ្លោះគ្នា ប្តឹងផ្តល់គ្នា ឡើងតុលាការ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កំហឹងតាមកាយ ៖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វាយ ទាត់ ធាក់ ចាក់ កាប់ សម្លាប់ ជាប់ទោស ជាប់គុក ច្រវាក់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សរុបមក​ កំហឹងមានលទ្ធផលធំៗពីរយ៉ាង ៖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ទោសបច្ចុប្បន្ន ៖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បង់យស អស់ទ្រព្យ ព្រាត់ប្រាស និរាសន៍ បែកបាក់គ្នា និងបាត់បង់ជីវិត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84213" algn="l"/>
              </a:tabLst>
            </a:pPr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ទោសអនាគត ៖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ត្រូវជាប់គុកច្រវាក់ កើតជាសត្វនរកអាចជានរកបច្ចុប្បន្ន និងនរកលោកខាងមុខ ។ </a:t>
            </a:r>
            <a:endParaRPr lang="km-KH" sz="1600" b="1" dirty="0"/>
          </a:p>
        </p:txBody>
      </p:sp>
      <p:pic>
        <p:nvPicPr>
          <p:cNvPr id="1026" name="Picture 2" descr="RoogRog Technology">
            <a:extLst>
              <a:ext uri="{FF2B5EF4-FFF2-40B4-BE49-F238E27FC236}">
                <a16:creationId xmlns:a16="http://schemas.microsoft.com/office/drawing/2014/main" id="{6BEA6D00-1C21-4120-A046-FE6ED1471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073" y="3033569"/>
            <a:ext cx="3836020" cy="203688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ចំណាត់ថ្នាក់តារានិករដែលរឹងរូសបំផុត នៅពេលឈ្លោះប្រកែកគ្នា! - TrueID">
            <a:extLst>
              <a:ext uri="{FF2B5EF4-FFF2-40B4-BE49-F238E27FC236}">
                <a16:creationId xmlns:a16="http://schemas.microsoft.com/office/drawing/2014/main" id="{A32387B2-7358-416A-9671-A158DF4DE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3033569"/>
            <a:ext cx="3619500" cy="199665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187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0A4473-3DC9-434F-BB41-94101B243A81}"/>
              </a:ext>
            </a:extLst>
          </p:cNvPr>
          <p:cNvSpPr/>
          <p:nvPr/>
        </p:nvSpPr>
        <p:spPr>
          <a:xfrm>
            <a:off x="636055" y="143013"/>
            <a:ext cx="28985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៤. វិធីសាស្ត្រគ្រប់គ្រងកំហឹង</a:t>
            </a:r>
            <a:endParaRPr lang="km-KH" sz="1600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1037F4-5261-4F4D-BDAA-7014CB80F4AB}"/>
              </a:ext>
            </a:extLst>
          </p:cNvPr>
          <p:cNvSpPr/>
          <p:nvPr/>
        </p:nvSpPr>
        <p:spPr>
          <a:xfrm>
            <a:off x="636054" y="589062"/>
            <a:ext cx="8426169" cy="711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41313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យើងដឹងហើយថា កំហឹងមានផលវិបាក និងបង្កវិនាសអន្តរាយដែលមិនអាចនឹកស្មានដល់ ដូច្នេះនៅពេលមានកំហឹង យើងត្រូវរកវិធីគ្រប់គ្រង (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Parnell , 2013 ) 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និងវិធីបំបាក់កំហឹងឲចេញពីចិត្តរបស់យើងតាមវិធីណាមួយដូចខាងក្រោម ៖</a:t>
            </a:r>
            <a:endParaRPr lang="km-K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BE38F4-6F74-48E9-A1B2-375DA7F5EEDA}"/>
              </a:ext>
            </a:extLst>
          </p:cNvPr>
          <p:cNvSpPr/>
          <p:nvPr/>
        </p:nvSpPr>
        <p:spPr>
          <a:xfrm>
            <a:off x="636054" y="1377853"/>
            <a:ext cx="26981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៤.១ វិធីសាស្ត្របន្ធូរបន្ថយកំហឹង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118935-F6EF-44CF-9732-B77E548BA6EB}"/>
              </a:ext>
            </a:extLst>
          </p:cNvPr>
          <p:cNvSpPr/>
          <p:nvPr/>
        </p:nvSpPr>
        <p:spPr>
          <a:xfrm>
            <a:off x="720854" y="1739791"/>
            <a:ext cx="136447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ក. វិធីរាប់លេខ</a:t>
            </a:r>
            <a:endParaRPr lang="km-KH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34E574-CB8F-4644-B6D7-3E5996B45860}"/>
              </a:ext>
            </a:extLst>
          </p:cNvPr>
          <p:cNvSpPr/>
          <p:nvPr/>
        </p:nvSpPr>
        <p:spPr>
          <a:xfrm>
            <a:off x="292008" y="2011820"/>
            <a:ext cx="8368771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ពេលយើងខឹងនរណាម្នាក់ ឬរឿងអ្វីមួយ អាចប្រើវិធីរាប់លេខពី ១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-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១០ ឬពី ១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-</a:t>
            </a: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១០០ ក្នុងចិត្តខ្លនឯង ។ </a:t>
            </a:r>
          </a:p>
          <a:p>
            <a:pPr marL="684213" indent="-223838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របៀបអនុវត្តទី ១ រាប់ពី ១ ដល់ ១០ </a:t>
            </a:r>
          </a:p>
          <a:p>
            <a:pPr marL="460375">
              <a:lnSpc>
                <a:spcPct val="150000"/>
              </a:lnSpc>
              <a:tabLst>
                <a:tab pos="684213" algn="l"/>
                <a:tab pos="914400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	សម្រួលអារម្មណ៍ រួចចាប់ផ្តើមរាប់ដោយយឺតៗ ៖ </a:t>
            </a:r>
          </a:p>
          <a:p>
            <a:pPr marL="460375">
              <a:lnSpc>
                <a:spcPct val="150000"/>
              </a:lnSpc>
              <a:tabLst>
                <a:tab pos="684213" algn="l"/>
                <a:tab pos="914400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រាប់លើកទី ១ ៖ ១​ ២ ៣ ៤ ៥ ៦ ៧ ៨ ៩ ១០ រួចដកដង្ហើមវែងៗ ឲបាន ៣ ដង </a:t>
            </a:r>
          </a:p>
          <a:p>
            <a:pPr marL="460375">
              <a:lnSpc>
                <a:spcPct val="150000"/>
              </a:lnSpc>
              <a:tabLst>
                <a:tab pos="684213" algn="l"/>
                <a:tab pos="914400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រាប់លើកទី ២ ៖ ១ ២ ៣ ៤ ៥ ៦ ៧ ៨ ៩ ១០ រួចដកដង្ហើមវែងៗ ឲបាន ៣ ដង </a:t>
            </a:r>
          </a:p>
          <a:p>
            <a:pPr marL="460375">
              <a:lnSpc>
                <a:spcPct val="150000"/>
              </a:lnSpc>
              <a:tabLst>
                <a:tab pos="684213" algn="l"/>
                <a:tab pos="914400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រាប់លើកទី ៣ ៖ ១ ២ ៣ ៤ ៥ ៦ ៧ ៨ ៩ ១០ រួចដកដង្ហើមវែងៗ ឲបាន ៣ ដង ។ </a:t>
            </a:r>
          </a:p>
        </p:txBody>
      </p:sp>
      <p:pic>
        <p:nvPicPr>
          <p:cNvPr id="2050" name="Picture 2" descr="បាត់បង់ពេលវេលា | ឡាយ ឡង់ឌី PERSONAL BLOG">
            <a:extLst>
              <a:ext uri="{FF2B5EF4-FFF2-40B4-BE49-F238E27FC236}">
                <a16:creationId xmlns:a16="http://schemas.microsoft.com/office/drawing/2014/main" id="{A6844713-B7B7-4691-A72A-93BCABD42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956" y="2608173"/>
            <a:ext cx="2453266" cy="25353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6BFE83-90FC-4C34-99D5-EE4E7D214171}"/>
              </a:ext>
            </a:extLst>
          </p:cNvPr>
          <p:cNvSpPr/>
          <p:nvPr/>
        </p:nvSpPr>
        <p:spPr>
          <a:xfrm>
            <a:off x="636054" y="4095118"/>
            <a:ext cx="5972902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ពេលរាប់ពី ១ ដល់ ១០ គ្រប់ហើយ រួចដកដង្ហើមវែងៗ ឲបានបីដង បន្ទាប់មកបន្តផ្សាយអារម្មណ៍ ផ្សាយមេត្តាចិត្តឲខ្លួនឯង ដោយដាក់អារម្មណ៍ពីចុងសក់ រួចចុះតាមផ្ទៃមុខ តាមស្មា ដងខ្លួន រហូតដល់ចុងជើង ឲបានបីដង ។</a:t>
            </a: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25407927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D8A979-FF5C-4965-9820-21CA041DF39C}"/>
              </a:ext>
            </a:extLst>
          </p:cNvPr>
          <p:cNvSpPr/>
          <p:nvPr/>
        </p:nvSpPr>
        <p:spPr>
          <a:xfrm>
            <a:off x="656655" y="573637"/>
            <a:ext cx="8405569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573088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		</a:t>
            </a:r>
            <a:endParaRPr lang="km-KH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7CEDC4-538E-43D8-BD25-E584BA891A74}"/>
              </a:ext>
            </a:extLst>
          </p:cNvPr>
          <p:cNvSpPr/>
          <p:nvPr/>
        </p:nvSpPr>
        <p:spPr>
          <a:xfrm>
            <a:off x="589748" y="83540"/>
            <a:ext cx="8405568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របៀបអនុវត្តទី ២ រាប់ពី ១ ដល់ ១០០</a:t>
            </a:r>
            <a:endParaRPr lang="km-K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61C7E-7472-4C30-9743-DFA6EB703B92}"/>
              </a:ext>
            </a:extLst>
          </p:cNvPr>
          <p:cNvSpPr/>
          <p:nvPr/>
        </p:nvSpPr>
        <p:spPr>
          <a:xfrm>
            <a:off x="656655" y="573637"/>
            <a:ext cx="8405567" cy="7498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បើកំហឹងនៅតែមិនថយទេ ចូររាប់ពី ១</a:t>
            </a:r>
            <a:r>
              <a:rPr lang="en-US" dirty="0">
                <a:latin typeface="Khmer CN Samlot" panose="02000500000000020004" pitchFamily="2" charset="0"/>
                <a:cs typeface="Khmer CN Samlot" panose="02000500000000020004" pitchFamily="2" charset="0"/>
              </a:rPr>
              <a:t>-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១០០ ដោយល្បឿនមធ្យម ៖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១ ៖ ១​ ២ ៣ ៤ ៥ ៦ ៧ ៨ ៩ ១០ រួចដកដង្ហើមវែងៗឲបាន ៣ ដង រួចរាប់បន្ត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២​ ៖ ១១ ១២ ១៣ ១៤ ១៥ ១៦ ១៧ ១៨​ ១៩ ២០ រួចដកដង្ហើមវែងៗឲបាន ៣ ដង រួចរាប់បន្ត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៣​ ៖ ២១ ២២ ២៣ ២៤ ២៥ ២៦ ២៧ ២៨​ ២៩ ៣០ រួចដកដង្ហើមវែងៗឲបាន ៣ ដង រួចរាប់បន្ត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៤​ ៖ ៣១ ៣២ ៣៣ ៣៤ ៣៥ ៣៦ ៣៧ ៣៨​ ៣៩ ៤០ រួចដកដង្ហើមវែងៗឲបាន ៣ ដង រួចរាប់បន្ត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៥​ ៖ ៤១ ៤២ ៤៣ ៤៤ ៤៥ ៤៦ ៤៧ ៤៨​ ៤៩ ៥០ រួចដកដង្ហើមវែងៗឲបាន ៣ ដង រួចរាប់បន្ត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៦ ៖ ៥១ ៥២ ៥៣ ៥៤ ៥៥ ៥៦ ៥៧ ៥៨​ ៥៩ ៦០ រួចដកដង្ហើមវែងៗឲបាន ៣ ដង រួចរាប់បន្ត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៧​ ៖ ៦១ ៦២ ៦៣ ៦៤ ៦៥ ៦៦ ៦៧ ៦៨​ ៦៩ ៧០ រួចដកដង្ហើមវែងៗឲបាន ៣ ដង រួចរាប់បន្ត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៨​ ៖ ៧១ ៧២ ៧៣ ៧៤ ៧៥ ៧៦ ៧៧ ៧៨​ ៧៩ ៨០ រួចដកដង្ហើមវែងៗឲបាន ៣ ដង រួចរាប់បន្ត </a:t>
            </a: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៩​ ៖ ៨១ ៨២ ៨៣ ៨៤ ៨៥ ៨៦ ៨៧ ៨៨​ ៨៩ ៩០ រួចដកដង្ហើមវែងៗឲបាន ៣ ដង រួចរាប់បន្ត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រាប់លើកទី ១០ ៖ ៩១ ៩២ ៩៣ ៩៤ ៩៥ ៩៦ ៩៧ ៩៨​ ៩៩ ១០០ រួចដកដង្ហើមវែងៗឲបាន ៣ ដង រួចរាប់បន្ត ។</a:t>
            </a:r>
          </a:p>
          <a:p>
            <a:pPr>
              <a:lnSpc>
                <a:spcPct val="150000"/>
              </a:lnSpc>
              <a:tabLst>
                <a:tab pos="460375" algn="l"/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នៅពេលរាប់ដល់ ១០០ គ្រប់ហើយ រួចដកដង្ហើមវែងៗឲបាន ៣ ដង បន្ទាប់មកបន្តផ្សាយអារម្មណ៍ផ្សាយមេត្តាចិត្តចំពោះខ្លួនឯង ចាប់ពីចុងសក់រួច រួចតាមផ្ទៃមុខ រួចចុះមកតាមស្មា ដងខ្លួន រហូតដល់ចុងជើងឲបាន ៣ ដង ។ នោះ យើងនឹងទទួលនូវលទ្ធផលបានយ៉ាងល្អ គឺកំហឹងនិងស្រាលចុះរហូតដល់បាត់តែម្តង ។ </a:t>
            </a: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endParaRPr lang="km-KH" dirty="0"/>
          </a:p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</a:t>
            </a: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2999577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D6AD01-8403-4C7F-BE04-618A7B42BE4B}"/>
              </a:ext>
            </a:extLst>
          </p:cNvPr>
          <p:cNvSpPr/>
          <p:nvPr/>
        </p:nvSpPr>
        <p:spPr>
          <a:xfrm>
            <a:off x="628186" y="559111"/>
            <a:ext cx="8434038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6842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*សំគាល់ ៖​ ពេលរាប់លេខ យើងប្រើឥរិយាបទ មួយណាក៏បាន អាចបើកភ្នែក ឬបិទភ្នែក ( បើយើងបិទភ្នែក សំខាន់ត្រូវប្រាកដថា ទីនោះមានសុវត្ថភាព ) ។ អ្វីដែលចាំបាច់បំផុតគឺរាប់ ដោយផ្តោតអារម្មណ៍តាមលេខនីមួយៗដើម្បីឲសតិរបស់យើងដឹងថា យើងកំពុងរាប់លេខ កុំឲគិតអ្វីផ្សេងៗ ។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BFAAB-251B-4C57-B736-D05339B91D57}"/>
              </a:ext>
            </a:extLst>
          </p:cNvPr>
          <p:cNvSpPr/>
          <p:nvPr/>
        </p:nvSpPr>
        <p:spPr>
          <a:xfrm>
            <a:off x="628186" y="1683457"/>
            <a:ext cx="27126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ខ. វិធីពន្យាពេលឲចិត្តស្ងប់ស្ងាត់</a:t>
            </a:r>
            <a:endParaRPr lang="km-KH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9A48C9-183F-4D3C-B231-8CDBD8EE5A73}"/>
              </a:ext>
            </a:extLst>
          </p:cNvPr>
          <p:cNvSpPr/>
          <p:nvPr/>
        </p:nvSpPr>
        <p:spPr>
          <a:xfrm>
            <a:off x="628186" y="1986077"/>
            <a:ext cx="8434037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ប្រសិនបើ យើងកំពុងខឹង ឬកំហឹងនោះមិនទាន់រលត់ទេ ចូរកុំគិតនូវអ្វីដែលយើងកំពុងខឹងនោះ ចូរកុំនិយាយ និងកុំធ្វើអ្វីទាំងអស់ ។ បន្ទាប់មកសម្រួលអារម្មណ៍ រួចដកដង្ហើមវែងៗឲបានបីដង ហើយផ្តោតអារម្មណ៍លើដង្ហើមចេញចូល និរាប់ដង្ហើមនោះឲបានពី ១ ដល់ ១០​​ ។ វិធីរាប់នេះ មិនត្រូវរាប់តិចជាង ៥ ដងហើយក៏មិនលើសពី ១០ ដែរ ។ </a:t>
            </a:r>
            <a:endParaRPr lang="km-K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54DA8B-4C97-4D5D-97A1-665328C0B650}"/>
              </a:ext>
            </a:extLst>
          </p:cNvPr>
          <p:cNvSpPr/>
          <p:nvPr/>
        </p:nvSpPr>
        <p:spPr>
          <a:xfrm>
            <a:off x="874431" y="3115956"/>
            <a:ext cx="81877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របៀបរាប់ដង្ហើមរម្ងាប់អារម្មណ៍ខឹង</a:t>
            </a:r>
            <a:endParaRPr lang="km-KH" sz="16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47DB4E-F2F7-44BC-9C1F-4D3B3EAC0AD6}"/>
              </a:ext>
            </a:extLst>
          </p:cNvPr>
          <p:cNvSpPr/>
          <p:nvPr/>
        </p:nvSpPr>
        <p:spPr>
          <a:xfrm>
            <a:off x="1099468" y="3549490"/>
            <a:ext cx="7962755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Khmer CN Samlot" panose="02000500000000020004" pitchFamily="2" charset="0"/>
              <a:buChar char="_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ចូរដឹងដង្ហើមចេញចូលឲច្បាស់</a:t>
            </a:r>
          </a:p>
          <a:p>
            <a:pPr marL="285750" indent="-285750">
              <a:lnSpc>
                <a:spcPct val="150000"/>
              </a:lnSpc>
              <a:buFont typeface="Khmer CN Samlot" panose="02000500000000020004" pitchFamily="2" charset="0"/>
              <a:buChar char="_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ដង្ហើមចូល ១ បូកនឹងចេញ ១ រាប់ថា មួយ </a:t>
            </a:r>
          </a:p>
          <a:p>
            <a:pPr marL="285750" indent="-285750">
              <a:lnSpc>
                <a:spcPct val="150000"/>
              </a:lnSpc>
              <a:buFont typeface="Khmer CN Samlot" panose="02000500000000020004" pitchFamily="2" charset="0"/>
              <a:buChar char="_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ចូររាប់ដង្ហើមពី ១ ដង្ហើម រហូតដល់ ១០ ដង្ហើម ហើយត្រូវរាប់សារឡើងវិញឲបាន ៣ ដង ។ </a:t>
            </a: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3100015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8A4A6E-6B6F-47B1-B410-1CB19783992D}"/>
              </a:ext>
            </a:extLst>
          </p:cNvPr>
          <p:cNvSpPr/>
          <p:nvPr/>
        </p:nvSpPr>
        <p:spPr>
          <a:xfrm>
            <a:off x="651406" y="522156"/>
            <a:ext cx="8403384" cy="360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មួយ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ពីរ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បី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បួន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ប្រាំ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ប្រាំមួយ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ប្រាំពីរ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ប្រាំបី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ប្រាំបួន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ដឹងដង្ហើម ចូល + ចេញ​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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រាប់ថា ដប់ ។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km-KH" dirty="0"/>
          </a:p>
        </p:txBody>
      </p:sp>
      <p:pic>
        <p:nvPicPr>
          <p:cNvPr id="4098" name="Picture 2" descr="ពីលេខ ០ ដល់លេខ ៩ លេខដែលអ្នកពេញចិត្តអាចមើលស្កេនដឹងថាអ្នកជាមនុស្សបែបណា - TNAOT">
            <a:extLst>
              <a:ext uri="{FF2B5EF4-FFF2-40B4-BE49-F238E27FC236}">
                <a16:creationId xmlns:a16="http://schemas.microsoft.com/office/drawing/2014/main" id="{8211C136-0C65-4565-B3DB-E4350CA0D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81629"/>
            <a:ext cx="4482790" cy="271913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AB1DBBE-5139-4C92-8858-1C23A0D6083C}"/>
              </a:ext>
            </a:extLst>
          </p:cNvPr>
          <p:cNvSpPr/>
          <p:nvPr/>
        </p:nvSpPr>
        <p:spPr>
          <a:xfrm>
            <a:off x="5134707" y="3375466"/>
            <a:ext cx="3562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8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ការធ្វើសម្មាធិ ដោយ រាប់ចំនួនដង្ហើម ​ </a:t>
            </a:r>
            <a:endParaRPr lang="km-KH" sz="18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D3EB07-BD0C-40CA-BA43-14EA92808ABA}"/>
              </a:ext>
            </a:extLst>
          </p:cNvPr>
          <p:cNvSpPr/>
          <p:nvPr/>
        </p:nvSpPr>
        <p:spPr>
          <a:xfrm>
            <a:off x="651406" y="3909611"/>
            <a:ext cx="8492594" cy="71173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ចូររាប់បន្តទៀត វានឹងធ្វើឲយើងរម្ងាប់ចិត្តក្រោធ ហើយប្រែជាស្ងប់ស្ងាត់ រសាយពីកំហឹងនោះ ។ វិធីនេះជួយរុញច្រាននិងបណ្តេញកំហឹងបានយ៉ាងល្អ ស័ក្កិសិទ្ធ ។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CCA249-8557-4A40-AB62-673F46B8B381}"/>
              </a:ext>
            </a:extLst>
          </p:cNvPr>
          <p:cNvSpPr/>
          <p:nvPr/>
        </p:nvSpPr>
        <p:spPr>
          <a:xfrm>
            <a:off x="651406" y="4621344"/>
            <a:ext cx="8492594" cy="38856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41313" algn="l"/>
              </a:tabLst>
            </a:pPr>
            <a:r>
              <a:rPr lang="km-KH" dirty="0">
                <a:solidFill>
                  <a:srgbClr val="FF0000"/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ចំណាំ </a:t>
            </a:r>
            <a:r>
              <a:rPr lang="km-KH" dirty="0">
                <a:solidFill>
                  <a:srgbClr val="FF0000"/>
                </a:solidFill>
              </a:rPr>
              <a:t>៖ </a:t>
            </a:r>
            <a:r>
              <a:rPr lang="km-KH" dirty="0">
                <a:solidFill>
                  <a:srgbClr val="FF0000"/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ដង្ហើមមនុស្ស ចូលពីចុងច្រមុះទៅដល់ផ្ចិតហៅថា ដង្ហើមចូល ចេញពីផ្ចិតទៅដល់ចុងច្រមុះហៅថា ដង្ហើមចេញ។ ​ </a:t>
            </a:r>
          </a:p>
        </p:txBody>
      </p:sp>
    </p:spTree>
    <p:extLst>
      <p:ext uri="{BB962C8B-B14F-4D97-AF65-F5344CB8AC3E}">
        <p14:creationId xmlns:p14="http://schemas.microsoft.com/office/powerpoint/2010/main" val="35591923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51F8E9-E779-4F4B-870B-3D656B2DC299}"/>
              </a:ext>
            </a:extLst>
          </p:cNvPr>
          <p:cNvSpPr/>
          <p:nvPr/>
        </p:nvSpPr>
        <p:spPr>
          <a:xfrm>
            <a:off x="629431" y="143014"/>
            <a:ext cx="36551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គ.​ វិធីប្តូរចិត្តដោយមិនផ្តោតលើអារម្មណ៍ខឹង </a:t>
            </a:r>
            <a:endParaRPr lang="km-KH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5143E-0A8F-46C6-A46D-06CB622703D2}"/>
              </a:ext>
            </a:extLst>
          </p:cNvPr>
          <p:cNvSpPr/>
          <p:nvPr/>
        </p:nvSpPr>
        <p:spPr>
          <a:xfrm>
            <a:off x="661699" y="507693"/>
            <a:ext cx="8455095" cy="4266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អារម្មណ៍ ពេលវាផ្តោតខ្លាំងទៅលើរឿងអ្វីមួយ វាមានឥទ្ធិពលខ្លាំងដែលរុញច្រានការសម្រេចចិត្តបានយ៉ាងខ្លាំងក្លា ។ បើពេលយើងខឹង ហើយផ្តោតអារម្មណ៍ទៅលើការខឹងនោះ វាកាន់តែខឹងខ្លាំងបន្ថែមទៀត ដូចចាក់សាំង ឬប្រេងលើភ្លើងដូច្នោះដែរ ។ 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សូមកុំផ្តោតលើអារម្មណ៍ខឹងនោះឲសោះដោយបង្វែរទៅគិតរឿងផ្សេងៗ និងធ្វើកិច្ចការផ្សេងៗ វានឹងភ្លេចដោយខ្លួនឯង​ ។ ប្រសិនបើ កំហឹងមិនទាន់បាត់នៅឡើយ ចូរដើរចេញឲឆ្ងាយពីស្ថានការណ៍នៅទីនោះ ទាំងក្នុងអារម្មណ៍និងខាងក្រៅ ហើយដើរចេញឲឆ្ងាញពីមនុស្សដែលធ្វើឲអ្នកខឹង រហូតចាំដល់ពេលធ្វើចិត្តឲត្រជាក់ស្ងប់អារម្មណ៍ហើយ ចាំនិយាយ និងដោះស្រាយបញ្ហាពេលក្រោយ ។ </a:t>
            </a:r>
          </a:p>
          <a:p>
            <a:pPr marL="460375" indent="-230188">
              <a:lnSpc>
                <a:spcPct val="150000"/>
              </a:lnSpc>
              <a:buFont typeface="Wingdings" panose="05000000000000000000" pitchFamily="2" charset="2"/>
              <a:buChar char="v"/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វិធីសាស្ត្រអនុវត្ត ៖ </a:t>
            </a:r>
          </a:p>
          <a:p>
            <a:pPr marL="746125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ប្តូរការគិត កុំគិតរឿងរ៉ាវដែលធ្វើឲយើងខឹងបន្តទៅទៀត</a:t>
            </a:r>
          </a:p>
          <a:p>
            <a:pPr marL="460375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ឧទាហរណ៍ ៖ កំពុងនឹកគិតរឿងដែលគេស្តីថាឲ ក៏ខឹងឆាវក្នុងចិត្ត </a:t>
            </a:r>
          </a:p>
          <a:p>
            <a:pPr marL="460375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បើយើងនៅបន្តគិតគឺកាន់តែខឹង ។ ដូច្នេះ យើងត្រូវប្តូរទៅគិតរឿងផ្សេងវិញដូចជា </a:t>
            </a:r>
          </a:p>
          <a:p>
            <a:pPr marL="460375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មកគិតការពីដើរកម្សាន្តសប្បាយៗ គិតពីយើងបានធ្វើល្អ គិតពីយើងបានជួប</a:t>
            </a:r>
          </a:p>
          <a:p>
            <a:pPr marL="460375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ជជែករឿងល្អៗជាមួយមិត្តភ័ក្តិ នោះយើងនឹងភ្លេចរឿងរ៉ាវដែលនាំឲខឹងនោះភ្លាម ។ </a:t>
            </a:r>
          </a:p>
        </p:txBody>
      </p:sp>
      <p:sp>
        <p:nvSpPr>
          <p:cNvPr id="5" name="AutoShape 2" descr="How to Stop Yelling When Angry: 10 Expert-Approved Ways">
            <a:extLst>
              <a:ext uri="{FF2B5EF4-FFF2-40B4-BE49-F238E27FC236}">
                <a16:creationId xmlns:a16="http://schemas.microsoft.com/office/drawing/2014/main" id="{8058CE74-2B9A-4B95-95F5-88FB05133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m-KH"/>
          </a:p>
        </p:txBody>
      </p:sp>
      <p:sp>
        <p:nvSpPr>
          <p:cNvPr id="6" name="AutoShape 4" descr="Step 2 Breathe deeply...">
            <a:extLst>
              <a:ext uri="{FF2B5EF4-FFF2-40B4-BE49-F238E27FC236}">
                <a16:creationId xmlns:a16="http://schemas.microsoft.com/office/drawing/2014/main" id="{9E28E4E9-F5D3-40F8-ABF9-BF1326E125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m-KH"/>
          </a:p>
        </p:txBody>
      </p:sp>
      <p:pic>
        <p:nvPicPr>
          <p:cNvPr id="5126" name="Picture 6" descr="Angry woman saying stop Illustration ...">
            <a:extLst>
              <a:ext uri="{FF2B5EF4-FFF2-40B4-BE49-F238E27FC236}">
                <a16:creationId xmlns:a16="http://schemas.microsoft.com/office/drawing/2014/main" id="{E4BC99FA-7B16-497D-BB30-27B687963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639" y="2597769"/>
            <a:ext cx="2386361" cy="19585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0E3A0D-6C67-49C1-91D4-9E69CA02FA3A}"/>
              </a:ext>
            </a:extLst>
          </p:cNvPr>
          <p:cNvSpPr/>
          <p:nvPr/>
        </p:nvSpPr>
        <p:spPr>
          <a:xfrm>
            <a:off x="7262789" y="4582423"/>
            <a:ext cx="16385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ចិត្តឈប់គិតរឿងខឹង </a:t>
            </a:r>
          </a:p>
          <a:p>
            <a:pPr algn="ctr"/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វាក៏ឈប់ខឹង ! </a:t>
            </a:r>
            <a:endParaRPr lang="km-KH" b="1" dirty="0"/>
          </a:p>
        </p:txBody>
      </p:sp>
    </p:spTree>
    <p:extLst>
      <p:ext uri="{BB962C8B-B14F-4D97-AF65-F5344CB8AC3E}">
        <p14:creationId xmlns:p14="http://schemas.microsoft.com/office/powerpoint/2010/main" val="3139181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B83D48-7CCD-4B28-96A5-D172C122B340}"/>
              </a:ext>
            </a:extLst>
          </p:cNvPr>
          <p:cNvSpPr/>
          <p:nvPr/>
        </p:nvSpPr>
        <p:spPr>
          <a:xfrm>
            <a:off x="144295" y="490150"/>
            <a:ext cx="5795588" cy="1681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0375" lvl="1">
              <a:lnSpc>
                <a:spcPct val="150000"/>
              </a:lnSpc>
              <a:tabLst>
                <a:tab pos="0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ឧទាហរណ៍ ៖ កំពុងតែជជែងគ្នារឿងអ្វីមួយដូចជា នៅកន្លែងធ្វើការ នៅកន្លែងប្រជុំ ប្តីប្រពន្ធជជែកគ្នា ក្រុម ការងារជជែកគ្នា ស្រាប់តែរឿងនោះបានបង្កឲទៅជាការខឹងគ្នា ។ ដូច្នេះ យើងអាចប្តូរទៅជជែករឿងផ្សេងវិញ កុំបន្តជជែករឿងនោះទៀត ទុកជជែកពេលក្រោយ ដោយយករឿងផ្សេងមកជជែកគ្នាត ឬផ្អាកជជែកគ្នាតែម្តង ។    </a:t>
            </a:r>
          </a:p>
        </p:txBody>
      </p:sp>
      <p:pic>
        <p:nvPicPr>
          <p:cNvPr id="6150" name="Picture 6" descr="female college student waving good bye to friends Stock Photo - Alamy">
            <a:extLst>
              <a:ext uri="{FF2B5EF4-FFF2-40B4-BE49-F238E27FC236}">
                <a16:creationId xmlns:a16="http://schemas.microsoft.com/office/drawing/2014/main" id="{45DA84BD-426B-4CB5-9E07-CCFC3C89B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883" y="615672"/>
            <a:ext cx="3078783" cy="159452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312F91-617D-43EB-BBC3-C72D8127072E}"/>
              </a:ext>
            </a:extLst>
          </p:cNvPr>
          <p:cNvSpPr/>
          <p:nvPr/>
        </p:nvSpPr>
        <p:spPr>
          <a:xfrm>
            <a:off x="6019952" y="2263973"/>
            <a:ext cx="29706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បើនិយាយមិនត្រូវគ្នា ឈប់និយាយសិន !</a:t>
            </a:r>
            <a:endParaRPr lang="km-KH" b="1" dirty="0"/>
          </a:p>
        </p:txBody>
      </p:sp>
      <p:pic>
        <p:nvPicPr>
          <p:cNvPr id="6152" name="Picture 8" descr="Way to end the day Stock Vector Images - Alamy">
            <a:extLst>
              <a:ext uri="{FF2B5EF4-FFF2-40B4-BE49-F238E27FC236}">
                <a16:creationId xmlns:a16="http://schemas.microsoft.com/office/drawing/2014/main" id="{F4DBE552-F98A-4026-A6A7-F006864C2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922" y="2608391"/>
            <a:ext cx="3026744" cy="15945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677241-9656-4A07-8CD9-5C6905EBB1AB}"/>
              </a:ext>
            </a:extLst>
          </p:cNvPr>
          <p:cNvSpPr/>
          <p:nvPr/>
        </p:nvSpPr>
        <p:spPr>
          <a:xfrm>
            <a:off x="167421" y="2530002"/>
            <a:ext cx="5852531" cy="2650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0375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ឧទាហរណ៍ ៖ បើយើងមើលសៀវភៅមិនយល់ រៀនមិនចេះ  ធ្វើការងារមិនកើត អារម្មណ៍ខឹងនឹងខ្លួនឯង ឬគ្រូ ឬក៏អ្នកដាក់ការងារឲ ។ ការធ្វើការងារជាមួយគ្នា ហើយមានអ្នកមិនចុះសម្រុង កេងចំណេញកម្លាំង យកប្រៀប ធ្វើឲយើងធុញទ្រាន់និងខឹងសម្បារ ។ </a:t>
            </a:r>
          </a:p>
          <a:p>
            <a:pPr marL="460375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ដូច្នេះ យើងត្រូវប្តូរទៅធ្វើរឿងផ្សេងៗវិញ ។ ម៉្យាងវិញទៀត ដូចជាប្តីប្រពន្ធធ្វើកិច្ចការងារផ្ទះ ប្រកែកគ្នាខឹងគ្នា ដូច្នេះត្រូវប្តូរសាច់រឿងដើរចេញឲឆ្ងាយពីស្ថានការណ៍នោះសិន ចាំអារម្មណ៍ល្អ ចាំបន្តធ្វើទៀត ។ </a:t>
            </a:r>
          </a:p>
          <a:p>
            <a:pPr marL="460375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E037BD-C540-420D-8758-20995F7FF04C}"/>
              </a:ext>
            </a:extLst>
          </p:cNvPr>
          <p:cNvSpPr/>
          <p:nvPr/>
        </p:nvSpPr>
        <p:spPr>
          <a:xfrm>
            <a:off x="588619" y="117485"/>
            <a:ext cx="3488455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6125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ប្តូរសាច់រឿង ដោយនិយាយរឿងផ្សេង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5B48AF-1F7A-4E48-9212-F41114DBA746}"/>
              </a:ext>
            </a:extLst>
          </p:cNvPr>
          <p:cNvSpPr/>
          <p:nvPr/>
        </p:nvSpPr>
        <p:spPr>
          <a:xfrm>
            <a:off x="588619" y="2141434"/>
            <a:ext cx="5403304" cy="388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6125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ប្តូរទៅធ្វើរឿងផ្សេងៗ ឬដើរចេញឲឆ្ងាយពីស្ថានការណ៍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6B0E1-48C6-4455-87F4-454BE8B90373}"/>
              </a:ext>
            </a:extLst>
          </p:cNvPr>
          <p:cNvSpPr/>
          <p:nvPr/>
        </p:nvSpPr>
        <p:spPr>
          <a:xfrm>
            <a:off x="5863684" y="4263378"/>
            <a:ext cx="3403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ប្តូរទៅធ្វើរឿងផ្សេងៗ ឬដើរចេញពីស្ថានការណ៍ !</a:t>
            </a:r>
            <a:endParaRPr lang="km-KH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6F2318-F7D3-44C9-8643-9AA2107334DC}"/>
              </a:ext>
            </a:extLst>
          </p:cNvPr>
          <p:cNvSpPr/>
          <p:nvPr/>
        </p:nvSpPr>
        <p:spPr>
          <a:xfrm>
            <a:off x="3093687" y="4869366"/>
            <a:ext cx="39464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កុំធ្វើការទាំងខឹង ! បើខឹងកុំធ្វើ បើធ្វើកុំខឹង !</a:t>
            </a:r>
            <a:endParaRPr lang="km-KH" b="1" dirty="0"/>
          </a:p>
        </p:txBody>
      </p:sp>
    </p:spTree>
    <p:extLst>
      <p:ext uri="{BB962C8B-B14F-4D97-AF65-F5344CB8AC3E}">
        <p14:creationId xmlns:p14="http://schemas.microsoft.com/office/powerpoint/2010/main" val="321827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8CDF22-B70B-4F22-A2FA-93C8B93BD74F}"/>
              </a:ext>
            </a:extLst>
          </p:cNvPr>
          <p:cNvSpPr/>
          <p:nvPr/>
        </p:nvSpPr>
        <p:spPr>
          <a:xfrm>
            <a:off x="629431" y="143014"/>
            <a:ext cx="36038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ឃ.​ វិធីបញ្ចេញកម្លាំងខ្លាំងៗដើម្បីបន្ធូរកំហឹង</a:t>
            </a:r>
            <a:endParaRPr lang="km-KH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B6D2E-203A-483E-9E2D-AF38B12AE2B9}"/>
              </a:ext>
            </a:extLst>
          </p:cNvPr>
          <p:cNvSpPr/>
          <p:nvPr/>
        </p:nvSpPr>
        <p:spPr>
          <a:xfrm>
            <a:off x="629431" y="634927"/>
            <a:ext cx="8506949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នៅពេលយើងខឹងនឹងកូន  ប្រពន្ធ ប្តី មិត្តរួមការងារ ចៅហ្វាយ ឬនរណាម្នាក់ ឬអ្វីមួយក៏ដោយ យើងអាចបញ្ចេញឬបន្ធូរកំហឹងដោយការបញ្ចេញចម្លាំងដូចជា ការហាត់ប្រាណ លេងកីឡា ឬប្រឹងធ្វើការងារអ្វីដែលយើងកំពុងធ្វើ ។ ការប្រើកម្លាំងច្រើនដូចជា ជីកដី លើករបស់ ឬវត្ថុធ្ងន់ៗ ឬដើរញាប់ៗក្នុងរយៈពេលយូរក្នុងសួនច្បារជាដើម ធ្វើឲរាងកាយអស់កម្លាំង និងធ្វើឲកំហឹងខ្សោយចុះដែលធ្វើឲយើងចង់សម្រាកនិងគែង ។ ពេលនោះ កំហឹងនឹងស្ងប់ចុះរហូតដល់បាត់ </a:t>
            </a:r>
            <a:endParaRPr lang="km-KH" dirty="0"/>
          </a:p>
        </p:txBody>
      </p:sp>
      <p:pic>
        <p:nvPicPr>
          <p:cNvPr id="1026" name="Picture 2" descr="Shy Girl Workout: How This TikTok Trend Can Help Ease Gym Anxiety">
            <a:extLst>
              <a:ext uri="{FF2B5EF4-FFF2-40B4-BE49-F238E27FC236}">
                <a16:creationId xmlns:a16="http://schemas.microsoft.com/office/drawing/2014/main" id="{15EC5D3C-AAD5-4684-B66E-8B69E207A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095" y="2495550"/>
            <a:ext cx="2832026" cy="20875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Do People Run? - Runners First">
            <a:extLst>
              <a:ext uri="{FF2B5EF4-FFF2-40B4-BE49-F238E27FC236}">
                <a16:creationId xmlns:a16="http://schemas.microsoft.com/office/drawing/2014/main" id="{6B43920C-C4AC-4104-8E43-0DD27A312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096" y="2495550"/>
            <a:ext cx="2544868" cy="20875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'information sur le sport - data.gouv.fr">
            <a:extLst>
              <a:ext uri="{FF2B5EF4-FFF2-40B4-BE49-F238E27FC236}">
                <a16:creationId xmlns:a16="http://schemas.microsoft.com/office/drawing/2014/main" id="{78522F48-A459-42F2-B75A-936803917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83" y="2495550"/>
            <a:ext cx="2735783" cy="208752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9069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281CF4-834C-4E19-873F-F86AB81762F0}"/>
              </a:ext>
            </a:extLst>
          </p:cNvPr>
          <p:cNvSpPr/>
          <p:nvPr/>
        </p:nvSpPr>
        <p:spPr>
          <a:xfrm>
            <a:off x="640649" y="189435"/>
            <a:ext cx="32223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ង.​ វិធីបញ្ចេញកម្លាំងដោយធ្វើការងារផ្ទះ</a:t>
            </a:r>
            <a:endParaRPr lang="km-KH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B00670-7A4E-42BC-A476-BEFE8C25D300}"/>
              </a:ext>
            </a:extLst>
          </p:cNvPr>
          <p:cNvSpPr/>
          <p:nvPr/>
        </p:nvSpPr>
        <p:spPr>
          <a:xfrm>
            <a:off x="640648" y="538145"/>
            <a:ext cx="5468899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230188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ប្រសិនបើ យើងមានកំហឹងទៅលើអ្វីមួយ លើខ្លួនឯង ឬនរណាម្នាក់ ចូរព្យាយាមបញ្ចេញកម្លាំងដោយធ្វើការងារផ្ទះដូចជា</a:t>
            </a:r>
          </a:p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បោសសំអាតបរិវេណខាងក្នុង និងខាងក្រៅផ្ទះ លាងចាន លាងសំអាតឡាន ម៉ូតូ ជូតកញ្ចក់ លាងបន្ទប់ទឹក ជូតកម្រាលឥដ្ឋ កាត់ស្មៅ ថែសួន និងតុបតែងផ្កាជាដើម ។ សកម្មភាពទាំងនេះ នឹងធ្វើឲយើងរីករាយ បំភ្លេចកំហឹង ហើយយើងនឹងទទួលបានផលចំណេញទាំងពីរគឺ កំហឹងក៏បាត់ កិច្ចការផ្ទះក៏បានស្អាតដែរ ។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CD95E-6DCD-4BDC-8D02-15AEA6FD7828}"/>
              </a:ext>
            </a:extLst>
          </p:cNvPr>
          <p:cNvSpPr/>
          <p:nvPr/>
        </p:nvSpPr>
        <p:spPr>
          <a:xfrm>
            <a:off x="640648" y="2552696"/>
            <a:ext cx="29209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ង.​ វិធីស្រែកបញ្ចេញសំឡេងខ្លាំងៗ </a:t>
            </a:r>
            <a:endParaRPr lang="km-KH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723063-B916-49A3-B361-1A08EA73FC0D}"/>
              </a:ext>
            </a:extLst>
          </p:cNvPr>
          <p:cNvSpPr/>
          <p:nvPr/>
        </p:nvSpPr>
        <p:spPr>
          <a:xfrm>
            <a:off x="640648" y="2889484"/>
            <a:ext cx="5618483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ប្រសិនបើ យើងមានកំហឹង ចូរចេញទៅខាងក្រៅដែលឆ្ងាយមានសុត្ថិភាព និងពុំមានមនុស្ស ហើយស្រែកឲអស់សំឡេង ឬអាចស្រែកក្នុងបន្ទប់ទឹក ឬស្រែកចូលបង្គន់ជំនួសវិញ ។ ពេលធ្វើរួចចុចទឹកបង្គន់ចុះទៅដើម្បីឲកំហឹងហូរទៅតាមទឹកឲអស់ ។ នោះមានន័យថា យើងបានបញ្ចេញកំហឹងចេញពីចិត្តរបស់យើងហើយនឹងមានអារម្មណ៍ថា អ្វីដែលយើងធ្លាប់សោកសៅ និងសៅហ្មងជារឿងតូចតាច តិចតួចប៉ុណ្ណោះ ដែលវាបានហូរទៅតាមខ្សែរទឹកកខ្វក់អស់ហើយ ។  </a:t>
            </a:r>
            <a:endParaRPr lang="km-KH" dirty="0"/>
          </a:p>
        </p:txBody>
      </p:sp>
      <p:pic>
        <p:nvPicPr>
          <p:cNvPr id="2050" name="Picture 2" descr="ការងារផ្ទះ - TNAOT">
            <a:extLst>
              <a:ext uri="{FF2B5EF4-FFF2-40B4-BE49-F238E27FC236}">
                <a16:creationId xmlns:a16="http://schemas.microsoft.com/office/drawing/2014/main" id="{9BB5D992-287E-4EC5-A03C-C588EFAEA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612" y="615345"/>
            <a:ext cx="2797387" cy="195640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ហេតុអ្វីបានជាកូនចូលចិត្តស្រែកឡូឡា? - Health.com.kh">
            <a:extLst>
              <a:ext uri="{FF2B5EF4-FFF2-40B4-BE49-F238E27FC236}">
                <a16:creationId xmlns:a16="http://schemas.microsoft.com/office/drawing/2014/main" id="{BE355E43-9D97-4894-9835-D8886FE26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612" y="2889484"/>
            <a:ext cx="2797388" cy="187681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43EC8F-7E98-4DB6-BC43-DA60F98E6DD3}"/>
              </a:ext>
            </a:extLst>
          </p:cNvPr>
          <p:cNvSpPr/>
          <p:nvPr/>
        </p:nvSpPr>
        <p:spPr>
          <a:xfrm>
            <a:off x="6701538" y="4712613"/>
            <a:ext cx="228780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1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ត្រូវប្រាកដថា គ្មាននរណាម្នាក់នៅទីនោះ </a:t>
            </a:r>
          </a:p>
          <a:p>
            <a:pPr algn="ctr"/>
            <a:r>
              <a:rPr lang="km-KH" sz="11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ប្រយ័ត្នគេថាយើងឆ្កួត !</a:t>
            </a:r>
            <a:endParaRPr lang="km-KH" sz="1100" b="1" dirty="0"/>
          </a:p>
        </p:txBody>
      </p:sp>
    </p:spTree>
    <p:extLst>
      <p:ext uri="{BB962C8B-B14F-4D97-AF65-F5344CB8AC3E}">
        <p14:creationId xmlns:p14="http://schemas.microsoft.com/office/powerpoint/2010/main" val="2047212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EC2368-46A6-4821-8446-88A803135DC4}"/>
              </a:ext>
            </a:extLst>
          </p:cNvPr>
          <p:cNvSpPr/>
          <p:nvPr/>
        </p:nvSpPr>
        <p:spPr>
          <a:xfrm>
            <a:off x="636055" y="143013"/>
            <a:ext cx="37609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៤.១ វិធីសាស្ត្រទប់និងគ្រប់គ្រងកំហឹង</a:t>
            </a:r>
            <a:endParaRPr lang="km-KH" sz="1600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53BD5D-BE4B-41FB-912D-51330B3B0980}"/>
              </a:ext>
            </a:extLst>
          </p:cNvPr>
          <p:cNvSpPr/>
          <p:nvPr/>
        </p:nvSpPr>
        <p:spPr>
          <a:xfrm>
            <a:off x="636055" y="602609"/>
            <a:ext cx="15199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ក.​ វិធីមិនខឹងតប</a:t>
            </a:r>
            <a:endParaRPr lang="km-KH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74518-A05E-4119-B888-F60C3FE7E679}"/>
              </a:ext>
            </a:extLst>
          </p:cNvPr>
          <p:cNvSpPr/>
          <p:nvPr/>
        </p:nvSpPr>
        <p:spPr>
          <a:xfrm>
            <a:off x="636056" y="920669"/>
            <a:ext cx="4491357" cy="3943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ការយកឈ្នះកំហឹងដោយការមិនតបតគឺមានលក្ខណៈដូច្នេះ ៖ នៅពេលយើងមានកំហឹងក្តៅក្រហាយជាមួយនរណាម្នាក់ ហើយប្រើវិធីការឈ្លោះប្រកែកគ្នា ឬមួយក៏តបតគ្នា វាមិនមែនជាវិធីសាស្ត្រដែលល្អទេ ។ អ្វីដែលជាចំណុចល្អសម្រាប់យើងនោះគឺការដែលមិនព្យាយាមតបតភ្លាមៗ ហើយស្វែងរកនូវយោបល់ ឬមួយក៏ដំណោះស្រាយណាមួយទៅលើបញ្ហាដែលយើងកំពុងជួបប្រទះ ។ 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ការមិនខឹងតបត មិនប្រកែក ប្រណាំង នៅស្ងៀម ហើយប្រមូលអារម្មណ៍ បង្កើតស្មារតី ដោយស្ងប់ស្ងាត់ មានន័យថា យើងកំពុងយកឈ្នះកំហឹងខ្លួនឯង ។ ប៉ុន្តែ បើប្រសិន យើងឆ្លើយតប ត្រូវប្រាកដក្នុងចិត្តថា យើងមិនមានកំហឹង រួចឆ្លើយតប ដោយហេតុផលប្រកបដោយបញ្ញា ។ </a:t>
            </a:r>
            <a:endParaRPr lang="km-K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AB7D4-ED91-450D-B4BE-8DDEC0F97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359" y="771886"/>
            <a:ext cx="3955627" cy="40913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3819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E0417E-891E-4CC1-A7FC-C80DC3DEC095}"/>
              </a:ext>
            </a:extLst>
          </p:cNvPr>
          <p:cNvSpPr/>
          <p:nvPr/>
        </p:nvSpPr>
        <p:spPr>
          <a:xfrm>
            <a:off x="646853" y="528755"/>
            <a:ext cx="8409093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ការយកឈ្នះកំហឹង ឬភាពក្រេវក្រោធ ដោយការមិនតបត ពេលយើងមិនខឹងក្រោធដូច្នោះ រមែងធ្វើឲអ្នកដែលប្រាថ្នាមិនល្អមកលើយើងនោះ បែរទៅជាមានសេចក្តីទុក្ខ ឈឺចិត្តដោយខ្លួនឯងទៅវិញ ព្រោះធ្វើអ្វីយើងមិនកើត មិនបានសម្រេចដូចបំណងអាក្រក់របស់ខ្លួន ។ ឯអ្នកដែលមិនក្រោធក៏ត្រូវបានសម្រេចនូវផលប្រយោជន៍ជាប្រក្រតី ធ្វើការងារអ្វីៗប្រកបទោតាមធម្មតារបស់ខ្លួន ។  </a:t>
            </a:r>
            <a:endParaRPr lang="km-KH" dirty="0"/>
          </a:p>
        </p:txBody>
      </p:sp>
      <p:pic>
        <p:nvPicPr>
          <p:cNvPr id="3074" name="Picture 2" descr="ឈ្វេងយល់ពី កាយវិការ និងដំណើររឿង ព្រះពុទ្ធត្រាស់ដឹង និងទ្រង់ផ្ចាញ់មារ">
            <a:extLst>
              <a:ext uri="{FF2B5EF4-FFF2-40B4-BE49-F238E27FC236}">
                <a16:creationId xmlns:a16="http://schemas.microsoft.com/office/drawing/2014/main" id="{DA40C252-D656-4D30-BC50-B44493167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43" y="2099244"/>
            <a:ext cx="3284749" cy="24608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0ACCBC-3FE7-44ED-A96B-BF792FDF3258}"/>
              </a:ext>
            </a:extLst>
          </p:cNvPr>
          <p:cNvSpPr/>
          <p:nvPr/>
        </p:nvSpPr>
        <p:spPr>
          <a:xfrm>
            <a:off x="5380071" y="2000031"/>
            <a:ext cx="23615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ព្រះពុទ្ធទ្រង់បានបង្រៀនថា ៖</a:t>
            </a:r>
            <a:endParaRPr lang="km-KH" sz="16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B5C04-0D1A-4473-ACB3-898165F5F1A0}"/>
              </a:ext>
            </a:extLst>
          </p:cNvPr>
          <p:cNvSpPr/>
          <p:nvPr/>
        </p:nvSpPr>
        <p:spPr>
          <a:xfrm>
            <a:off x="4389284" y="2495550"/>
            <a:ext cx="4666662" cy="16682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បុគ្គលគប្បីផ្ចាញ់មនុស្សក្រោធ ដោយសេចក្តីមិនក្រោធ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បុគ្គលគប្បីផ្ចាញ់មនុស្សអសប្បុរស ដោយសប្បុរស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បុគ្គលគប្បីផ្ចាញ់មនុស្សកំណាញ់ ដោយការឲ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បុគ្គលគប្បីផ្ចាញ់មនុស្សនិយាយពាក្យមិនពិត ដោយពាក្យពិត</a:t>
            </a:r>
          </a:p>
          <a:p>
            <a:pPr>
              <a:lnSpc>
                <a:spcPct val="150000"/>
              </a:lnSpc>
            </a:pPr>
            <a:endParaRPr lang="km-K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09DB7-6A77-4F6E-B0CD-BEB259648C26}"/>
              </a:ext>
            </a:extLst>
          </p:cNvPr>
          <p:cNvSpPr/>
          <p:nvPr/>
        </p:nvSpPr>
        <p:spPr>
          <a:xfrm>
            <a:off x="2645989" y="4662158"/>
            <a:ext cx="39148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បើចង់ឈ្នះមនុស្សខឹង ទាល់តែយើងកុំខឹងតប ! </a:t>
            </a:r>
            <a:endParaRPr lang="km-KH" sz="1600" b="1" dirty="0"/>
          </a:p>
        </p:txBody>
      </p:sp>
    </p:spTree>
    <p:extLst>
      <p:ext uri="{BB962C8B-B14F-4D97-AF65-F5344CB8AC3E}">
        <p14:creationId xmlns:p14="http://schemas.microsoft.com/office/powerpoint/2010/main" val="3225052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512298-0EA4-46D1-865D-E4D469FD90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15975" t="12081" r="3334" b="7794"/>
          <a:stretch/>
        </p:blipFill>
        <p:spPr>
          <a:xfrm>
            <a:off x="2397760" y="1947656"/>
            <a:ext cx="5276427" cy="31958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85BDDC-9737-4D5E-BE3C-990627EDDD24}"/>
              </a:ext>
            </a:extLst>
          </p:cNvPr>
          <p:cNvSpPr/>
          <p:nvPr/>
        </p:nvSpPr>
        <p:spPr>
          <a:xfrm>
            <a:off x="656116" y="209755"/>
            <a:ext cx="18982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ក.​ វិធីអត់ធ្មត់បីកម្រិត</a:t>
            </a:r>
            <a:endParaRPr lang="km-KH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D635F-3C1E-4C9F-AB7D-A320A5400BF2}"/>
              </a:ext>
            </a:extLst>
          </p:cNvPr>
          <p:cNvSpPr/>
          <p:nvPr/>
        </p:nvSpPr>
        <p:spPr>
          <a:xfrm>
            <a:off x="656115" y="602609"/>
            <a:ext cx="8420151" cy="1345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ការអត់ធ្មត់គឺជាវិធីសង្កត់កំហឹងបានយ៉ាងមានប្រសិទ្ធភាព ។ វិធីនេះ អ្នកអាចរៀនហ្វឹកហាត់ តាមរយៈ ៣ កម្រិត ៖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កម្រិតទី ១ ៖ យើងធ្វើខុស ហើយគេប្រាប់ ឬស្តីថាឲ ត្រូវរៀនអត់ទ្រាំ ទទួលយកឲបាន ដោយកុំខឹងតប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កម្រិតទី ២ ៖ យើងមិនបានធ្វើខុស ហើយត្រូវគេស្តីថាឲ អត់ទ្រាំទទួលយកឲបាន ដោយកុំខឹងតប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កម្រិតទី ៣ ៖ យើងធ្វើត្រូវ តែនៅតែមានគេមកស្តីថាឲ អត់ទ្រាំទទួលយកឲបាន ដោយកុំខឹងតប ។ </a:t>
            </a:r>
            <a:endParaRPr lang="km-K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025C12-A1B5-4F83-80CB-7B2CB58321F0}"/>
              </a:ext>
            </a:extLst>
          </p:cNvPr>
          <p:cNvSpPr/>
          <p:nvPr/>
        </p:nvSpPr>
        <p:spPr>
          <a:xfrm>
            <a:off x="886383" y="2187773"/>
            <a:ext cx="27478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ក្រាហ្វបង្ហាញការអត់ធ្មត់បីកម្រិត </a:t>
            </a: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1948065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045429C-A6E2-4849-A938-1AA32E3C2BB4}"/>
              </a:ext>
            </a:extLst>
          </p:cNvPr>
          <p:cNvSpPr/>
          <p:nvPr/>
        </p:nvSpPr>
        <p:spPr>
          <a:xfrm>
            <a:off x="625224" y="230617"/>
            <a:ext cx="8390081" cy="4912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solidFill>
                  <a:schemeClr val="bg1">
                    <a:lumMod val="10000"/>
                  </a:schemeClr>
                </a:solidFill>
                <a:latin typeface="Khmer CN Samlot" panose="02000500000000020004" pitchFamily="2" charset="0"/>
                <a:cs typeface="Khmer CN Samlot" panose="02000500000000020004" pitchFamily="2" charset="0"/>
              </a:rPr>
              <a:t>	ជាធម្មតា មនុស្សយើង ទោះបីជាយ៉ាងណា តែងមានអគិតចំពោះខ្លួនឯងដែរ គឺការលំអៀងមកលើខ្លួនគ្រាន់តែថា តិច​ ឬច្រើនមទៅតាមចំណេះដឹងរបស់ខ្លួន។ ពេលខ្លះដឹងថា ខ្លួនធ្វើខុសក៏ដោយ ក៏គេនិយាយប្រាប់ ពុំបានដែរ នៅតែខឹងតបហ្នឹងគេវិញ។ ប្រសិនបើ យើងពុំធ្លាប់ទទួលកំហុស ពិបាកទទួលព្រមថា ខ្លួនខុសណាស់ ព្រោះហេតុនេះ យើងនឹងបន្តប្រកែក ប្រណាំង យកឈ្នះចាញ់រហូតបង្កទៅជាជម្លោះ។ វិធីអត់ធ្មត់បីកម្រិតនេះ យើងអាចយកមកដកពិសោធន៍ចំពោះខ្លួនយើងផ្ទាល់បាន។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យើងត្រូវរៀនទទួលពាក្យស្តីបន្ទោស នៅពេលយើងធ្វើខុសអ្វីមួយ មានន័យថា រៀនទទួលកំហុស ទទួលការពិតឱ្យបានរឿយៗ។ បើយើងហ្វឹកហាត់</a:t>
            </a: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កម្រិតទី ១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បានស្ទាត់ហើយ យើងគួររៀនបន្តហ្វឹកហាត់ កម្រិតទី ២ គឺរៀនអត់ធ្មត់ចំពោះពាក្យសំដីនិយាយស្ដីថា ឱ្យមកលើយើង ទាំងដែលយើងមិនបានខុសអ្វីផងនោះ។ យើងគួររៀនហ្វឹកហាត់រហូតស្ទាត់។ ពេលស្ទាត់</a:t>
            </a: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កម្រិតទី ២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នេះ ហើយគឺត្រូវរៀនអត់ធ្មត់ឱ្យដល់កម្រិតកំពូល មួយទៀត គឺ</a:t>
            </a: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កម្រិតទី ៣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ដែល យើងមិនបានធ្វើអ្វីខុសទាល់តែសោះ តែបែរជាមានគេមកស្ដីថាឱ្យ ចោទប្រកាន់ ចាប់កំហុសទៅវិញ។ យើងត្រូវរៀនអត់ធ្មត់សង្កត់ចិត្តខ្លួនឱ្យបាន ដោយកុំខឹងតប ហើយមកផ្តោតអារម្មណ៍ រិះរកមើល ក្រែងលោយើងនៅមានចំណុចខ្វះខាតមែន។ទី ២ និងទី ៣ នេះ មិនមែន មិនមាត់ មិន ក មិននិយាយហេតុផល ហើយទុកឱ្យគេចោទប្រកាន់ ថាឱ្យតាមតែចិត្តនោះទេ ប៉ុន្តែជាការអត់ធ្មត់ចិត្តពី ខាងក្នុងកុំឱ្យយើងខឹងគេឱ្យសោះ ហើយយើងអាចនិយាយដោយប្រើហេតុផលបាន ពីព្រោះមនុស្សយើង កាល ណាខឹងហើយគឺល្ងង់ខ្លៅភ្លាមមួយរំពេច ហើយមិនត្រឹមតែមិនអាចដោះស្រាយបញ្ហាបាននោះទេ ថែមទាំងបង្ក ទៅជាជម្លោះទៅវិញ ។​</a:t>
            </a:r>
          </a:p>
        </p:txBody>
      </p:sp>
    </p:spTree>
    <p:extLst>
      <p:ext uri="{BB962C8B-B14F-4D97-AF65-F5344CB8AC3E}">
        <p14:creationId xmlns:p14="http://schemas.microsoft.com/office/powerpoint/2010/main" val="3656599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85831A-242F-48E5-9AED-1CF5814CFE91}"/>
              </a:ext>
            </a:extLst>
          </p:cNvPr>
          <p:cNvSpPr/>
          <p:nvPr/>
        </p:nvSpPr>
        <p:spPr>
          <a:xfrm>
            <a:off x="619760" y="633611"/>
            <a:ext cx="8463280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ខឹងគេ ហើយមានស្មារតី រិះរកវិធីតប ដោយបញ្ញា នោះគេនឹងយល់ ហើយបែរត្រឡប់គោរពកោតក្រែងយើងវិញ។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បុរាណាចារ្យខ្មែរយើងបានប្រាប់ពីឧបាយ ជាគន្លឹះរំលត់សេចក្តីក្រោធខឹងថា </a:t>
            </a:r>
            <a:r>
              <a:rPr lang="km-KH" b="1" i="1" dirty="0">
                <a:latin typeface="Khmer CN Samlot" panose="02000500000000020004" pitchFamily="2" charset="0"/>
                <a:cs typeface="Khmer CN Samlot" panose="02000500000000020004" pitchFamily="2" charset="0"/>
              </a:rPr>
              <a:t>« ទុកជាភ្នែកភ្លឺក៏ត្រូវធ្វើ ដូចជាងងឹត ទោះមានត្រចៀកស្តាប់ឮ ក៏ត្រូវធ្វើដូចជាថ្លង់ »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(ពុទ្ធសាសនបណ្ឌិត្យ, ១៩៤៩)។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723D40-E289-4C1F-B06D-DB82E9D9EB5C}"/>
              </a:ext>
            </a:extLst>
          </p:cNvPr>
          <p:cNvSpPr/>
          <p:nvPr/>
        </p:nvSpPr>
        <p:spPr>
          <a:xfrm>
            <a:off x="3012117" y="4509889"/>
            <a:ext cx="3065263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8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មនុស្សខឹងច្រើនគឺជាមនុស្សខ្លៅ !</a:t>
            </a:r>
          </a:p>
        </p:txBody>
      </p:sp>
      <p:pic>
        <p:nvPicPr>
          <p:cNvPr id="4098" name="Picture 2" descr="Happiness: របៀបទប់កំហឹងខ្លួនឯង">
            <a:extLst>
              <a:ext uri="{FF2B5EF4-FFF2-40B4-BE49-F238E27FC236}">
                <a16:creationId xmlns:a16="http://schemas.microsoft.com/office/drawing/2014/main" id="{DFDEE735-D726-4B9E-B384-9BADD4734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333" y="1855893"/>
            <a:ext cx="4870027" cy="251968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535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4A284C-8243-42E3-87DA-D71BBA781B5C}"/>
              </a:ext>
            </a:extLst>
          </p:cNvPr>
          <p:cNvSpPr/>
          <p:nvPr/>
        </p:nvSpPr>
        <p:spPr>
          <a:xfrm>
            <a:off x="636055" y="143013"/>
            <a:ext cx="29370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៤.១ វិធីទប់កំហឹងដោយខន្តី </a:t>
            </a:r>
            <a:endParaRPr lang="km-KH" sz="1600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B3BCF2-D317-42C1-B57E-8BC5623D53AE}"/>
              </a:ext>
            </a:extLst>
          </p:cNvPr>
          <p:cNvSpPr/>
          <p:nvPr/>
        </p:nvSpPr>
        <p:spPr>
          <a:xfrm>
            <a:off x="636055" y="589062"/>
            <a:ext cx="8441038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 គឺជាសភាពធ្វើឲបាត់បង់នូវអារម្មណ៍ល្អផ្សេងៗ ដោយសសារតែមានការវង្វេងជាឬសគល់ ( មោហៈ ) ។​ បើនរណាមានសេចក្តីប្រាថ្នាចង់ឲកំហឹង រសាត់បាត់ទៅពីសន្តានចិត្តរបស់ខ្លួន ចូរប្រកាន់ភ្ជាប់នូវស្មារតី ( សតិ ) ជាមូលដ្ឋានកំចាត់នូវភាពវង្វេងចេញ ( មោហៈ ) ។ ពេលមានស្មារតី ភាពវង្វេងក៏បាត់ទៅ កំហឹងទាំងឡាញក៏បានរសាយ ពេលគ្មានស្មារតី ភាពរង្វេងក៏មកគ្របសង្កត់ កំហឹងទាំងឡាំយក៏ចាប់ផ្តើមឆាបឆេះ ។​</a:t>
            </a:r>
            <a:endParaRPr lang="km-K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244867-A64A-4FB9-BC2D-4A9E15753DD1}"/>
              </a:ext>
            </a:extLst>
          </p:cNvPr>
          <p:cNvSpPr/>
          <p:nvPr/>
        </p:nvSpPr>
        <p:spPr>
          <a:xfrm>
            <a:off x="2864641" y="2103687"/>
            <a:ext cx="34147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ទម្រង់វិធីទប់ទល់ និងគ្រប់គ្រងកំហឹង 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394F9-68F1-44AD-92A1-7A4A135E1598}"/>
              </a:ext>
            </a:extLst>
          </p:cNvPr>
          <p:cNvSpPr/>
          <p:nvPr/>
        </p:nvSpPr>
        <p:spPr>
          <a:xfrm>
            <a:off x="807668" y="2508163"/>
            <a:ext cx="20569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តាំងចិត្តដោយខន្តី 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53ED3C-678D-4E63-AD1D-8B471709367B}"/>
              </a:ext>
            </a:extLst>
          </p:cNvPr>
          <p:cNvSpPr/>
          <p:nvPr/>
        </p:nvSpPr>
        <p:spPr>
          <a:xfrm>
            <a:off x="718458" y="3518055"/>
            <a:ext cx="14782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ចិត្ត </a:t>
            </a:r>
            <a:r>
              <a:rPr lang="km-KH" b="1" dirty="0">
                <a:latin typeface="Khmer OS Muol Light" panose="02000500000000020004" pitchFamily="2" charset="0"/>
                <a:cs typeface="Khmer OS Muol Light" panose="02000500000000020004" pitchFamily="2" charset="0"/>
                <a:sym typeface="Wingdings" panose="05000000000000000000" pitchFamily="2" charset="2"/>
              </a:rPr>
              <a:t>ខន្តី   </a:t>
            </a:r>
            <a:r>
              <a:rPr lang="km-KH" sz="2400" b="1" dirty="0">
                <a:latin typeface="Khmer OS Muol Light" panose="02000500000000020004" pitchFamily="2" charset="0"/>
                <a:cs typeface="Khmer OS Muol Light" panose="02000500000000020004" pitchFamily="2" charset="0"/>
                <a:sym typeface="Wingdings" panose="05000000000000000000" pitchFamily="2" charset="2"/>
              </a:rPr>
              <a:t>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EB22C-63A6-4262-8150-919D390F5AB3}"/>
              </a:ext>
            </a:extLst>
          </p:cNvPr>
          <p:cNvSpPr/>
          <p:nvPr/>
        </p:nvSpPr>
        <p:spPr>
          <a:xfrm>
            <a:off x="2196748" y="2994279"/>
            <a:ext cx="3164649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គិតអត់ធ្មត់នឹងអារម្មណ៍នាំឲមានកំហឹង </a:t>
            </a:r>
          </a:p>
          <a:p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អត់ធ្មត់ចំពោះពាក្យឲុមានកំហឹង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អត់ធ្មត់ចំពោះទង្វើនាំឲមានកំហឹង 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DC9D87-F85B-488E-A56C-E5091E717115}"/>
              </a:ext>
            </a:extLst>
          </p:cNvPr>
          <p:cNvSpPr/>
          <p:nvPr/>
        </p:nvSpPr>
        <p:spPr>
          <a:xfrm>
            <a:off x="5409761" y="2745304"/>
            <a:ext cx="3682418" cy="23275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គិតអត់ធ្មត់នឹងអារម្មណ៍គិតព្យាបាទ ដោយមិន</a:t>
            </a:r>
          </a:p>
          <a:p>
            <a:pPr>
              <a:lnSpc>
                <a:spcPct val="150000"/>
              </a:lnSpc>
              <a:tabLst>
                <a:tab pos="282575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	គិតគុំកួន ព្យាបាទ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ទប់ពាក្យសំដីអាក្រក់មិនឲចេញមកក្រៅ ដោយ</a:t>
            </a:r>
          </a:p>
          <a:p>
            <a:pPr>
              <a:lnSpc>
                <a:spcPct val="150000"/>
              </a:lnSpc>
              <a:tabLst>
                <a:tab pos="282575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	មិននិយាយទ្រគោះបោះបោកនិយាយញុះញង់ </a:t>
            </a:r>
          </a:p>
          <a:p>
            <a:pPr>
              <a:lnSpc>
                <a:spcPct val="150000"/>
              </a:lnSpc>
              <a:tabLst>
                <a:tab pos="282575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	អុជអាល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282575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ទប់កុំឲបៀតបៀន វាយទាត់ធាក់ អត់ធ្មត់ចំពោះ</a:t>
            </a:r>
          </a:p>
          <a:p>
            <a:pPr>
              <a:lnSpc>
                <a:spcPct val="150000"/>
              </a:lnSpc>
              <a:tabLst>
                <a:tab pos="282575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	ការមិនបៀតបៀនបាយទាត់ធាក់ សម្លាប់ជីវិត ។ </a:t>
            </a:r>
          </a:p>
        </p:txBody>
      </p:sp>
    </p:spTree>
    <p:extLst>
      <p:ext uri="{BB962C8B-B14F-4D97-AF65-F5344CB8AC3E}">
        <p14:creationId xmlns:p14="http://schemas.microsoft.com/office/powerpoint/2010/main" val="1326194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26CC86-15A0-42D3-A79C-30351825AFA6}"/>
              </a:ext>
            </a:extLst>
          </p:cNvPr>
          <p:cNvSpPr/>
          <p:nvPr/>
        </p:nvSpPr>
        <p:spPr>
          <a:xfrm>
            <a:off x="562341" y="181275"/>
            <a:ext cx="29995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តាំងចិត្តដោយមិនមានទោសៈ 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FD88B9-B146-4AF5-BA72-C856D752D935}"/>
              </a:ext>
            </a:extLst>
          </p:cNvPr>
          <p:cNvSpPr/>
          <p:nvPr/>
        </p:nvSpPr>
        <p:spPr>
          <a:xfrm>
            <a:off x="675668" y="1228338"/>
            <a:ext cx="17363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ចិត្ត </a:t>
            </a:r>
            <a:r>
              <a:rPr lang="km-KH" b="1" dirty="0">
                <a:latin typeface="Khmer OS Muol Light" panose="02000500000000020004" pitchFamily="2" charset="0"/>
                <a:cs typeface="Khmer OS Muol Light" panose="02000500000000020004" pitchFamily="2" charset="0"/>
                <a:sym typeface="Wingdings" panose="05000000000000000000" pitchFamily="2" charset="2"/>
              </a:rPr>
              <a:t>ទោសៈ​   </a:t>
            </a:r>
            <a:r>
              <a:rPr lang="km-KH" sz="2400" b="1" dirty="0">
                <a:latin typeface="Khmer OS Muol Light" panose="02000500000000020004" pitchFamily="2" charset="0"/>
                <a:cs typeface="Khmer OS Muol Light" panose="02000500000000020004" pitchFamily="2" charset="0"/>
                <a:sym typeface="Wingdings" panose="05000000000000000000" pitchFamily="2" charset="2"/>
              </a:rPr>
              <a:t>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060FA0-36E1-4C5F-85EC-E681EE581835}"/>
              </a:ext>
            </a:extLst>
          </p:cNvPr>
          <p:cNvSpPr/>
          <p:nvPr/>
        </p:nvSpPr>
        <p:spPr>
          <a:xfrm>
            <a:off x="2494114" y="658951"/>
            <a:ext cx="1197764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គិតល្អ</a:t>
            </a:r>
          </a:p>
          <a:p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ធ្វើល្អ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និយាយល្អ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742DA-9ABF-4517-AB6C-97A46699B072}"/>
              </a:ext>
            </a:extLst>
          </p:cNvPr>
          <p:cNvSpPr/>
          <p:nvPr/>
        </p:nvSpPr>
        <p:spPr>
          <a:xfrm>
            <a:off x="4168260" y="618555"/>
            <a:ext cx="3560590" cy="16812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មិនគិតចងគុំនំ គុំកួន មិនព្យាបាទអ្នកដទៃ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មិននិយាយទ្រគោះ បោះបោក និយាយញុះញង់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282575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មិនបៀតបៀន វាយទាត់ធាក់ សម្លាប់ជិវិត ។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C6B18-88CE-4AFF-859A-73A2EE896241}"/>
              </a:ext>
            </a:extLst>
          </p:cNvPr>
          <p:cNvSpPr/>
          <p:nvPr/>
        </p:nvSpPr>
        <p:spPr>
          <a:xfrm>
            <a:off x="616194" y="2447893"/>
            <a:ext cx="8371688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	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ការទប់កំហឹងបាននេះ វាមិនមែនជារឿងងាយនោះទេ ប៉ុន្តែបើយើងចេះប្រើខន្តីចិត្ត ចេះគិតពិចារណាទុកពេលសម្រាប់គិត និះយើងនឹងអាចគ្រប់គ្រងកំហឹងនោះបានជាក់ជាមិនខាន ដូចរឿងទេវតាដែលទប់កំហឹងមិនសម្លាប់ភិក្ខុដែលកាត់ដៃកូនរបស់ខ្លួន ។​</a:t>
            </a:r>
            <a:endParaRPr lang="km-K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7678E-C54D-4EDC-907D-91868C722953}"/>
              </a:ext>
            </a:extLst>
          </p:cNvPr>
          <p:cNvSpPr/>
          <p:nvPr/>
        </p:nvSpPr>
        <p:spPr>
          <a:xfrm>
            <a:off x="675668" y="3482792"/>
            <a:ext cx="8371688" cy="1681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រឿងរុក្ខទេវតានិងភិក្ខុសង្ឃ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នៅសម័យព្រះពុទ្ធជាម្ចាស់ ភិក្ខុមួយអង្គមានគម្រោងធ្វើកុដិ។ ថ្ងៃមួយ លោកបាននិមន្តចូលទៅព ហើយបានឃើញដើមឈើជាទីពេញចិត្តមួយដើមយ៉ាងធំ រួចគិតនឹងកាប់ ដើម្បីយកមកធ្វើកុដិរបស់ខ្លួន។ នៅលើដើមឈើនោះ មានរុក្ខទេវតា ដែលមានកូនខ្ចីមួយអង្គអាស្រ័យនៅ។ នៅពេលដែលភិក្ខុអង្គនោះ រៀបចំកាប់ដើមឈើនោះ ទេវតាបានពកូននឹងចង្កេះមកឈរអង្វរថា ៖​</a:t>
            </a:r>
          </a:p>
        </p:txBody>
      </p:sp>
    </p:spTree>
    <p:extLst>
      <p:ext uri="{BB962C8B-B14F-4D97-AF65-F5344CB8AC3E}">
        <p14:creationId xmlns:p14="http://schemas.microsoft.com/office/powerpoint/2010/main" val="28757346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F1B94F-EFEC-4199-918C-0524B088B1B0}"/>
              </a:ext>
            </a:extLst>
          </p:cNvPr>
          <p:cNvSpPr/>
          <p:nvPr/>
        </p:nvSpPr>
        <p:spPr>
          <a:xfrm>
            <a:off x="639337" y="795453"/>
            <a:ext cx="8504663" cy="4266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បពិត្រព្រះគុណម្ចាស់ សូមព្រះគុណម្ចាស់កុំកាប់វិមានរបស់ខ្ញុំម្ចាស់អី ពីព្រោះខ្ញុំម្ចាស់មិនអាចពកូន រសាត់អណ្តែត ដោយមិនមានទីកន្លែងនៅបាននោះទេ។ រុក្ខទេវតានោះ បានសុំអង្វរករនឹងភិក្ខុរូបនោះ ដើម្បីកុំ ឱ្យកាប់ដើមឈើ ដែលជាទីនៅអាស្រ័យរបស់ខ្លួន។ ប៉ុន្តែភិក្ខុរូបនោះ មិនព្រមស្ដាប់ពាក្យសុំអង្វរកររបស់រុក្ខទេវតា នោះឡើយ ដោយគិតថា « យើងមិនអាចរកដើមឈើផ្សេងឱ្យល្អដូចដើមឈើនេះឡើយ » ។ ទើបលោកមិនអើ ពើនឹងពាក្យអង្វររបស់ទេវតា។ ទេវតាគិតថា « បើភិក្ខុនេះឃើញទារកហើយនឹងឈប់កាប់ជាពិតប្រាកដ » ទើបយកកូនទៅដាក់នៅនឹងមែកឈើត្រង់កន្លែងដែលភិក្ខុនោះកំពុងយារពូថៅកាប់នោះ។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ខណៈ លោកកំពុងយារពូថៅកាប់ដើមឈើនោះ លោកមិនអាចបញ្ឈប់ពូថៅនោះបានឡើយ ដែលធ្វើ ឱ្យផ្លែពូថៅត្រូវដាច់ដៃកូនទេវតា។ រុក្ខទេវតា បានឃើញយ៉ាងនេះហើយ ក៏ខឹងភិក្ខុនោះយ៉ាងខ្លាំង ហើយគិត នឹងសម្លាប់លោកចោល ប៉ុន្តែបាននឹកគិតទាន់ថា «ភិក្ខុនេះជាអ្នកមានសីល បើអញសម្លាប់លោក អញនឹងត្រូវ ទទួលទុក្ខក្នុងអបាយភូមិអស់ជាច្រើនឆ្នាំ ហើយពួកទេវតាទាំងឡាយ ក៏នឹងយកធ្វើជាគំរូតាមអញដែរ។ មួយៀត ភិក្ខុរូបនេះជាអ្នកមានអាណាព្យាបាល អញត្រូវតែទៅក្រាបទូលដល់ទ្រង់ ទើបជាការប្រពៃ»។ គិតស្រេច ហើយ ទេវតាក៏បានធ្វើដំណើរទាំងស្រែកទ្រហោយំតាមដងផ្លូវ ហើយបានចូលទៅក្រាបទូលព្រះពុទ្ធជាម្ចាស់។ 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523213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3B7D3B-4E8C-4837-AF44-CF77A3956FCF}"/>
              </a:ext>
            </a:extLst>
          </p:cNvPr>
          <p:cNvSpPr/>
          <p:nvPr/>
        </p:nvSpPr>
        <p:spPr>
          <a:xfrm>
            <a:off x="628186" y="481713"/>
            <a:ext cx="8515814" cy="3297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ពេលនោះព្រះពុទ្ធអង្គទ្រង់ត្រាស់ទៅកាន់ទេវតាថា “តើយ៉ាងដូចម្តេចហ្នឹងទេវតា?, ទេវតាក៏បាន ក្រាបទូលថា បពិត្រព្រះអង្គដ៏ចម្រើន ភិក្ខុអង្គនោះបានធ្វើអំពើដូច្នេះ។ ខ្ញុំព្រះអង្គម្ចាស់ ប្រាថ្នានឹងសម្លាប់ 1. ប៉ុន្តែខ្ញុំព្រះអង្គម្ចាស់បានគិតនូវសេចក្ដីដូច្នេះ ទើបមិនសម្លាប់លោកទៅវិញ ហើយក៏ប្រញាប់មកកាន់ទី . ទេវតាបានក្រាបទូលរឿងនោះទាំងអស់ដោយពិស្តារដល់ព្រះពុទ្ធជាម្ចាស់។ 	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ព្រះពុទ្ធអង្គទ្រង់ព្រះសណ្តាប់រឿងនោះហើយ ទ្រង់ត្រាស់ថា «សាធុ! សាធុ! សាធុ! ប្រពៃហើយទេវតា ត្រង់ដែលអ្នកគ្របសង្កត់នូវសេចក្តីក្រោធ(កំហឹង) ដែលកើតឡើងយ៉ាងនោះបាន ប្រៀបដូចគេបញ្ឈប់នូវរថដែលកំពុងតែលឿនទៅមុខ ឆ្ពោះទៅរកធ្លាក់ជ្រោះដ៏ជ្រៅដូច្នោះឯង»។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ព្រះពុទ្ធទ្រង់ជ្រាបរឿងរ៉ាវនោះអស់ហើយ ទ្រង់ក៏ត្រាស់ព្រះគាថាបញ្ជាក់ថែមទៀតថា « បុគ្គលណា ឃាត់សេចក្តីក្រោធ(កំហឹង) ដែលកើតឡើងហើយបាន ដូចនាយសារថី”ទប់រថដែលកំពុងលឿនបាន តថាគត ហៅបុគ្គលនោះថា ជាសារថីជន ក្រៅពីនេះគ្រាន់តែជាអ្នកកាន់ខ្សែបរទេ មិនមែនជាសារថីឡើយ » ! (មហាយិន- នឿន, ព.ស.២៥៥៦)។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74A6D8-3F44-4A89-A690-41FC0BADEBF6}"/>
              </a:ext>
            </a:extLst>
          </p:cNvPr>
          <p:cNvSpPr/>
          <p:nvPr/>
        </p:nvSpPr>
        <p:spPr>
          <a:xfrm>
            <a:off x="628186" y="3739269"/>
            <a:ext cx="8426604" cy="1404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វិធីទប់កំហឹងដោយមេត្តាចិត្ត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កំហឹងគឺជាភ្លើង មេត្តាគឺជាទឹក។ ព្រះពុទ្ធបង្ហាញឱ្យយើងរម្លត់ភ្លើងកំហឹង ដោយការធ្វើសេចក្ដីមេត្ត (មធ្យមវិបស្សនា, ២០០២) ក្នុងចិត្តដល់មនុស្សដែលយើងកំពុងខឹងនោះ។23 មេត្តាធ្វើឱ្យចិត្តត្រជាក់ អារម្មណ៍ ស្ងប់ស្ងាត់ រលត់នូវកំហឹងគឺជាភ្លើង។</a:t>
            </a:r>
          </a:p>
        </p:txBody>
      </p:sp>
    </p:spTree>
    <p:extLst>
      <p:ext uri="{BB962C8B-B14F-4D97-AF65-F5344CB8AC3E}">
        <p14:creationId xmlns:p14="http://schemas.microsoft.com/office/powerpoint/2010/main" val="41086677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F3DB20-D9B8-4286-8773-26AC8F662E1B}"/>
              </a:ext>
            </a:extLst>
          </p:cNvPr>
          <p:cNvSpPr/>
          <p:nvPr/>
        </p:nvSpPr>
        <p:spPr>
          <a:xfrm>
            <a:off x="620752" y="128438"/>
            <a:ext cx="8448907" cy="2050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ព្រះសង្ឃដីកាសម្តេចព្រះមហាឃោនន្ទ!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ទោសៈជាបដិបក្ខនិងមេត្តា។ ទឹកជាធម្មជាតិមានសភាពថ្លា។ នៅពេលចិត្តត្រូវទោសៈ ចូលទៅលុក លុយរាតត្បាត ក៏ក្លាយទៅមានកករល្អក់។ ដូច្នេះ អ្នកត្រូវយកទឹកគឺមេត្តាមកលាងសម្អាតចិត្តរបស់អ្នក។ ដូចទឹកដែរ មេត្តាអាចផ្សាយទៅបានគ្រប់ទីកន្លែង ។ « ពោធិ » មានន័យថា ភ្ញាក់ឡើងហើយឃើញនូវអ្វីដែលត្រូវឃើញ ។ ពេលណាយើងភ្ញាក់ដឹងខ្លួនឡើង ទោសៈក៏បាត់បង់កម្លាំងរបស់វាអស់ទៅវិញ ហើយបង្កើតនូវគុណភាពផ្ទុយមួយគឺករុណា ។ ព្រះពុទ្ធ មានព្រះទ័យប្រកបដោយ មាហាករុណា ។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EDF28-B3B2-47C3-A211-15A9A12303E2}"/>
              </a:ext>
            </a:extLst>
          </p:cNvPr>
          <p:cNvSpPr/>
          <p:nvPr/>
        </p:nvSpPr>
        <p:spPr>
          <a:xfrm>
            <a:off x="2220155" y="2025110"/>
            <a:ext cx="43508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solidFill>
                  <a:schemeClr val="bg1">
                    <a:lumMod val="10000"/>
                  </a:schemeClr>
                </a:solidFill>
                <a:latin typeface="Khmer OS Muol Light" panose="02000500000000020004" pitchFamily="2" charset="0"/>
                <a:cs typeface="Khmer OS Muol Light" panose="02000500000000020004" pitchFamily="2" charset="0"/>
              </a:rPr>
              <a:t>ទម្រង់វិធីទប់ទល់ និងគ្រប់គ្រងកំហឹងដោយមេត្តា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6E117-C645-4E71-BAC4-04BDDB53DDF6}"/>
              </a:ext>
            </a:extLst>
          </p:cNvPr>
          <p:cNvSpPr/>
          <p:nvPr/>
        </p:nvSpPr>
        <p:spPr>
          <a:xfrm>
            <a:off x="839218" y="3283356"/>
            <a:ext cx="15760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b="1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ចិត្ត </a:t>
            </a:r>
            <a:r>
              <a:rPr lang="km-KH" b="1" dirty="0">
                <a:latin typeface="Khmer OS Muol Light" panose="02000500000000020004" pitchFamily="2" charset="0"/>
                <a:cs typeface="Khmer OS Muol Light" panose="02000500000000020004" pitchFamily="2" charset="0"/>
                <a:sym typeface="Wingdings" panose="05000000000000000000" pitchFamily="2" charset="2"/>
              </a:rPr>
              <a:t>មេត្តា  </a:t>
            </a:r>
            <a:r>
              <a:rPr lang="km-KH" sz="2400" b="1" dirty="0">
                <a:latin typeface="Khmer OS Muol Light" panose="02000500000000020004" pitchFamily="2" charset="0"/>
                <a:cs typeface="Khmer OS Muol Light" panose="02000500000000020004" pitchFamily="2" charset="0"/>
                <a:sym typeface="Wingdings" panose="05000000000000000000" pitchFamily="2" charset="2"/>
              </a:rPr>
              <a:t></a:t>
            </a:r>
            <a:endParaRPr lang="km-KH" b="1" dirty="0"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5FB690-FED6-4FE8-B395-E6E15C58B24F}"/>
              </a:ext>
            </a:extLst>
          </p:cNvPr>
          <p:cNvSpPr/>
          <p:nvPr/>
        </p:nvSpPr>
        <p:spPr>
          <a:xfrm>
            <a:off x="2695257" y="2713970"/>
            <a:ext cx="2149948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គិតដោយក្តីអាណិត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និយាយដោយក្តីរាប់អាន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ធ្វើដោយក្តីស្រលាញ់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5294C-5591-41DF-B8FB-D2002DD835D0}"/>
              </a:ext>
            </a:extLst>
          </p:cNvPr>
          <p:cNvSpPr/>
          <p:nvPr/>
        </p:nvSpPr>
        <p:spPr>
          <a:xfrm>
            <a:off x="5008318" y="2571750"/>
            <a:ext cx="3983783" cy="20043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គិតដោយអាណិត ស្រលាញ់ មិនគុំកួនព្យាបាទគ្នា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ស្រឡាញ់រាប់អានដោយមិននិយាយទ្រគោះបោះបោក</a:t>
            </a:r>
          </a:p>
          <a:p>
            <a:pPr>
              <a:lnSpc>
                <a:spcPct val="150000"/>
              </a:lnSpc>
              <a:tabLst>
                <a:tab pos="401638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	និយាយញុះញង់ អុជអាល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ធ្វើដោយស្រឡាញ់ដោយមិនបៀតបៀនវាយទាត់ធាក់</a:t>
            </a:r>
          </a:p>
          <a:p>
            <a:pPr>
              <a:lnSpc>
                <a:spcPct val="150000"/>
              </a:lnSpc>
              <a:tabLst>
                <a:tab pos="401638" algn="l"/>
              </a:tabLst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  <a:sym typeface="Wingdings" panose="05000000000000000000" pitchFamily="2" charset="2"/>
              </a:rPr>
              <a:t>	 សម្លាប់ជិវីត ។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67C47A-7713-4763-88D0-9F9AF7315DF9}"/>
              </a:ext>
            </a:extLst>
          </p:cNvPr>
          <p:cNvSpPr/>
          <p:nvPr/>
        </p:nvSpPr>
        <p:spPr>
          <a:xfrm>
            <a:off x="0" y="4787951"/>
            <a:ext cx="91439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m-KH" sz="1600" b="1" dirty="0">
                <a:solidFill>
                  <a:srgbClr val="FF0000"/>
                </a:solidFill>
                <a:latin typeface="Khmer OS Muol Light" panose="02000500000000020004" pitchFamily="2" charset="0"/>
                <a:cs typeface="Khmer OS Muol Light" panose="02000500000000020004" pitchFamily="2" charset="0"/>
                <a:sym typeface="Wingdings" panose="05000000000000000000" pitchFamily="2" charset="2"/>
              </a:rPr>
              <a:t>	កំហឹងកើត មុខដូចយក្ស មេត្តាកើត មុខដូចទេវតា </a:t>
            </a:r>
            <a:endParaRPr lang="km-KH" sz="1600" b="1" dirty="0">
              <a:solidFill>
                <a:srgbClr val="FF0000"/>
              </a:solidFill>
              <a:latin typeface="Khmer OS Muol Light" panose="02000500000000020004" pitchFamily="2" charset="0"/>
              <a:cs typeface="Khmer OS Muol Ligh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2436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21DCB2-1899-4175-884D-72173F0DCE4E}"/>
              </a:ext>
            </a:extLst>
          </p:cNvPr>
          <p:cNvSpPr/>
          <p:nvPr/>
        </p:nvSpPr>
        <p:spPr>
          <a:xfrm>
            <a:off x="662846" y="87749"/>
            <a:ext cx="5036956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វិធីផ្សាយមេត្តាចិត្តដល់ខ្លួនឯង (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ការចម្រើនមេត្តា , ព.ស ២៥៦០ )</a:t>
            </a: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57C178-FA52-4BCA-9F8E-64AB273BD9A4}"/>
              </a:ext>
            </a:extLst>
          </p:cNvPr>
          <p:cNvSpPr/>
          <p:nvPr/>
        </p:nvSpPr>
        <p:spPr>
          <a:xfrm>
            <a:off x="726470" y="666789"/>
            <a:ext cx="27975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ចូរអធិដ្ឋានចិត្ត រួចសូត្រតិចៗថា ៖ </a:t>
            </a:r>
            <a:endParaRPr lang="km-KH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E4DA1-3B74-4C38-B5CA-A743E2E2376D}"/>
              </a:ext>
            </a:extLst>
          </p:cNvPr>
          <p:cNvSpPr/>
          <p:nvPr/>
        </p:nvSpPr>
        <p:spPr>
          <a:xfrm>
            <a:off x="662846" y="1105738"/>
            <a:ext cx="3397084" cy="13580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សូមឲខ្ញុំ ជាអ្នកមិនមានពៀរវេរា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សូមឲខ្ញុំ អ្នកមិនមានសត្រូវបៀតបៀន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សូមឲខ្ញុំ ជាអ្នកមិនមានទុក្ខ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សូមឲខ្ញុំ រក្សាខ្លួននៅដោយសេចក្តីសុខចុះ </a:t>
            </a:r>
            <a:endParaRPr lang="km-KH" dirty="0"/>
          </a:p>
        </p:txBody>
      </p:sp>
      <p:pic>
        <p:nvPicPr>
          <p:cNvPr id="1026" name="Picture 2" descr="Khmer All News - 👍📣មានលក់ដុំ និងរាយ ផ្កាបេះដូងតាំងមុខរោង... | Facebook">
            <a:extLst>
              <a:ext uri="{FF2B5EF4-FFF2-40B4-BE49-F238E27FC236}">
                <a16:creationId xmlns:a16="http://schemas.microsoft.com/office/drawing/2014/main" id="{C88C0D4B-4A69-430B-8C6A-44E0157D3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527" y="535259"/>
            <a:ext cx="2865235" cy="159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7FD7D3-4709-4072-B2D2-183E618D66BD}"/>
              </a:ext>
            </a:extLst>
          </p:cNvPr>
          <p:cNvSpPr/>
          <p:nvPr/>
        </p:nvSpPr>
        <p:spPr>
          <a:xfrm>
            <a:off x="726469" y="3108970"/>
            <a:ext cx="27975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ចូរអធិដ្ឋានចិត្ត រួចសូត្រតិចៗថា ៖ </a:t>
            </a:r>
            <a:endParaRPr lang="km-KH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244E21-2EA8-46A4-A485-B8B7142B40C3}"/>
              </a:ext>
            </a:extLst>
          </p:cNvPr>
          <p:cNvSpPr/>
          <p:nvPr/>
        </p:nvSpPr>
        <p:spPr>
          <a:xfrm>
            <a:off x="662846" y="2571750"/>
            <a:ext cx="5105885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វិធីផ្សាយមេត្តាចិត្តដល់អ្នកដទៃ  ( </a:t>
            </a: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ការចម្រើនមេត្តា , ព.ស ២៥៦០ )</a:t>
            </a:r>
            <a:endParaRPr lang="km-KH" b="1" dirty="0"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7A79D-1BB3-4949-80EE-2630D79EEE7E}"/>
              </a:ext>
            </a:extLst>
          </p:cNvPr>
          <p:cNvSpPr/>
          <p:nvPr/>
        </p:nvSpPr>
        <p:spPr>
          <a:xfrm>
            <a:off x="662846" y="3596177"/>
            <a:ext cx="3222357" cy="13580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សូមឲជាអ្នកមិនមានពៀរវេរា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សូមឲជាអ្នកមិនមានសត្រូវបៀតបៀន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សូមឲជាអ្នកមិនមានទុក្ខ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សូមរក្សាខ្លួននៅដោយសេចក្តីសុខចុះ  ។</a:t>
            </a:r>
            <a:endParaRPr lang="km-K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9F4E77-3E80-4EF2-9DFB-AC4BAC0F84FF}"/>
              </a:ext>
            </a:extLst>
          </p:cNvPr>
          <p:cNvSpPr/>
          <p:nvPr/>
        </p:nvSpPr>
        <p:spPr>
          <a:xfrm>
            <a:off x="6191587" y="3452629"/>
            <a:ext cx="1895071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គិតដោយក្តីអាណិត </a:t>
            </a:r>
          </a:p>
          <a:p>
            <a:pPr algn="ctr">
              <a:lnSpc>
                <a:spcPct val="150000"/>
              </a:lnSpc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និយាយដោយក្តីមេត្តា </a:t>
            </a:r>
          </a:p>
          <a:p>
            <a:pPr algn="ctr">
              <a:lnSpc>
                <a:spcPct val="150000"/>
              </a:lnSpc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ធ្វើដោយក្តីអាសូរ </a:t>
            </a:r>
            <a:endParaRPr lang="km-KH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995FA-F115-4A95-95EA-6C0D11722BF2}"/>
              </a:ext>
            </a:extLst>
          </p:cNvPr>
          <p:cNvSpPr/>
          <p:nvPr/>
        </p:nvSpPr>
        <p:spPr>
          <a:xfrm>
            <a:off x="5646430" y="2234114"/>
            <a:ext cx="31534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m-KH" sz="12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ចម្រើនមេត្តា កើតមេត្រីទៅក្នុងពពួកសត្វទាំងអស់ !</a:t>
            </a:r>
            <a:endParaRPr lang="km-KH" sz="1200" dirty="0"/>
          </a:p>
        </p:txBody>
      </p:sp>
    </p:spTree>
    <p:extLst>
      <p:ext uri="{BB962C8B-B14F-4D97-AF65-F5344CB8AC3E}">
        <p14:creationId xmlns:p14="http://schemas.microsoft.com/office/powerpoint/2010/main" val="4197817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6B6B0B-3657-4007-9B18-3E702B33E17C}"/>
              </a:ext>
            </a:extLst>
          </p:cNvPr>
          <p:cNvSpPr/>
          <p:nvPr/>
        </p:nvSpPr>
        <p:spPr>
          <a:xfrm>
            <a:off x="602165" y="461449"/>
            <a:ext cx="8474927" cy="4682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ពេលយើងមានចិត្តខឹងក្រោធជាមួយនរណាម្នាក់ ឬអ្វីមួយ ចូរយើងទៅងូតទឹក កក់សក់ឱ្យបានស្រស់ ស្រាយ ស្រឡះខ្លួន បន្ទាប់មកយើងចូលទៅក្នុងបន្ទប់ អធិដ្ឋានចិត្ត ផ្តោតអារម្មណ៍ សង្រួមឥរិយាបទ ថ្វាយបង្ខំ សូត្រធម៌ និងសមាធិតែម្នាក់ឯង ដោយមិនចាប់អារម្មណ៍អ្វីទាំងអស់។ ការធ្វើដូច្នេះ ធ្វើឱ្យអារម្មណ៍របស់យើង នឹងត្រជាក់ វានឹងធ្វើឱ្យចិត្តរបស់យើងឈប់ខឹង រំសាយកំហឹងទៅបានយ៉ាងល្អ។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របៀបធ្វើ</a:t>
            </a:r>
          </a:p>
          <a:p>
            <a:pPr marL="460375" indent="-230188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401638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រៀបចំ ងូតទឹកសម្អាតខ្លួនប្រាណ រួចស្លៀកពាក់សមរម្យ ចូលក្នុងបន្ទប់ ឬកន្លែងស្ងប់ស្ងាត់</a:t>
            </a:r>
          </a:p>
          <a:p>
            <a:pPr marL="460375" indent="-230188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85566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ថ្វាយបង្គំបីដង (បើមានរូបព្រះពុទ្ធ តែបើគ្មាន សូមសំពះទៅខាងក្បាលដំណេកដោយនឹក គុណព្រះពុទ្ធ ព្រះធម៌ ព្រះសង្ឃ និងមាតាបិតា)។</a:t>
            </a:r>
          </a:p>
          <a:p>
            <a:pPr marL="460375" indent="-23018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បន្ទាប់មកសូត្រធម៌ថ្វាយបង្គំសង្ខេប (បើមិនចេះសូត្រសង្ខេបទេ អាចសូត្រតែ នមោតស្សៈ...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៣ ចប់ ក៏បាន)</a:t>
            </a:r>
          </a:p>
          <a:p>
            <a:pPr>
              <a:lnSpc>
                <a:spcPct val="150000"/>
              </a:lnSpc>
              <a:tabLst>
                <a:tab pos="460375" algn="l"/>
                <a:tab pos="914400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		</a:t>
            </a:r>
            <a:r>
              <a:rPr lang="km-KH" b="1" u="sng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សូត្រជាបាលី៖</a:t>
            </a:r>
          </a:p>
          <a:p>
            <a:pPr>
              <a:lnSpc>
                <a:spcPct val="150000"/>
              </a:lnSpc>
              <a:tabLst>
                <a:tab pos="13747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នមោតស្ស ភគវតោ អរហតោ សម្មាសម្ពុទ្ធស្ស</a:t>
            </a:r>
          </a:p>
          <a:p>
            <a:pPr>
              <a:lnSpc>
                <a:spcPct val="150000"/>
              </a:lnSpc>
              <a:tabLst>
                <a:tab pos="13747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នមោតស្ស ភគវតោ អរហតោ សម្មាសម្ពុទ្ធស្ស</a:t>
            </a:r>
          </a:p>
          <a:p>
            <a:pPr>
              <a:lnSpc>
                <a:spcPct val="150000"/>
              </a:lnSpc>
              <a:tabLst>
                <a:tab pos="13747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នមោតស្ស ភគវតោ អរហតោ សម្មាសម្ពុទ្ធស្ស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5CA8E7-3BAC-4F05-B8C8-890D5E68DA18}"/>
              </a:ext>
            </a:extLst>
          </p:cNvPr>
          <p:cNvSpPr/>
          <p:nvPr/>
        </p:nvSpPr>
        <p:spPr>
          <a:xfrm>
            <a:off x="669073" y="87749"/>
            <a:ext cx="430598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ង. វិធីអធិដ្ឋានចិត្ត សូត្រធម៌ និងធ្វើសមាធិ</a:t>
            </a:r>
          </a:p>
        </p:txBody>
      </p:sp>
    </p:spTree>
    <p:extLst>
      <p:ext uri="{BB962C8B-B14F-4D97-AF65-F5344CB8AC3E}">
        <p14:creationId xmlns:p14="http://schemas.microsoft.com/office/powerpoint/2010/main" val="26611103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E97597-FEC4-4F2A-846D-B90D199DCC5A}"/>
              </a:ext>
            </a:extLst>
          </p:cNvPr>
          <p:cNvSpPr/>
          <p:nvPr/>
        </p:nvSpPr>
        <p:spPr>
          <a:xfrm>
            <a:off x="635620" y="567355"/>
            <a:ext cx="8389434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914400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រីកិរិយានមស្ការ ថ្វាយបង្គំនៃខ្ញុំព្រះករុណា ចូរមានដល់ព្រះដ៏មានព្រះភាគអង្គនោះ ព្រះអង្គជាព្រះអរហន្តដ៏ប្រសើរ ទ្រង់ត្រាស់ដឹងនូវញេយ្យធម៌ទាំងពួង ដោយប្រពៃ ចំពោះព្រះអង្គ ឥតមានគ្រូអាចារ្យណា ប្រដៅព្រះអង្គឡើយ។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បន្ទាប់មក ប្រើឥរិយាបថទាំងបួន ដើម្បីធ្វើសមាធិ (បឋមវិបស្សនា, ២០០៤)។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FCCD92-16F2-4263-9C92-167D2878BE0A}"/>
              </a:ext>
            </a:extLst>
          </p:cNvPr>
          <p:cNvSpPr/>
          <p:nvPr/>
        </p:nvSpPr>
        <p:spPr>
          <a:xfrm>
            <a:off x="800295" y="65446"/>
            <a:ext cx="101822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សូត្រប្រែ ៖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B9B85-BE8F-45DC-87F6-29E8966F1FD3}"/>
              </a:ext>
            </a:extLst>
          </p:cNvPr>
          <p:cNvSpPr/>
          <p:nvPr/>
        </p:nvSpPr>
        <p:spPr>
          <a:xfrm>
            <a:off x="635620" y="1760432"/>
            <a:ext cx="26949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របៀបប្រើឥរិយាបថទាំងបួន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54430-9AAC-4E6D-9EF1-BC51C5E99239}"/>
              </a:ext>
            </a:extLst>
          </p:cNvPr>
          <p:cNvSpPr/>
          <p:nvPr/>
        </p:nvSpPr>
        <p:spPr>
          <a:xfrm>
            <a:off x="872062" y="2388379"/>
            <a:ext cx="2222083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8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ទី ១ ៖ ឥរិយាបថអង្គុយ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1AAFC-0BA0-4DF4-B124-42751D014B85}"/>
              </a:ext>
            </a:extLst>
          </p:cNvPr>
          <p:cNvSpPr/>
          <p:nvPr/>
        </p:nvSpPr>
        <p:spPr>
          <a:xfrm>
            <a:off x="948978" y="2952182"/>
            <a:ext cx="2571538" cy="19082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sz="1600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ដាក់ជើងស្តាំលើជើងឆ្វេង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sz="1600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ដាក់ដៃស្តាំលើជើងឆ្វេង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sz="1600" dirty="0">
                <a:latin typeface="Khmer CN Samlot" panose="02000500000000020004" pitchFamily="2" charset="0"/>
                <a:cs typeface="Khmer CN Samlot" panose="02000500000000020004" pitchFamily="2" charset="0"/>
              </a:rPr>
              <a:t>តម្រង់ដងខ្លួនឲត្រង់​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sz="1600" dirty="0">
                <a:latin typeface="Khmer CN Samlot" panose="02000500000000020004" pitchFamily="2" charset="0"/>
                <a:cs typeface="Khmer CN Samlot" panose="02000500000000020004" pitchFamily="2" charset="0"/>
              </a:rPr>
              <a:t>តម្រង់មុខឲត្រង់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sz="1600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ការកំណត់ផ្លូវដង្ហើម ។ </a:t>
            </a:r>
          </a:p>
        </p:txBody>
      </p:sp>
      <p:pic>
        <p:nvPicPr>
          <p:cNvPr id="2052" name="Picture 4" descr="មិន​មាន​ការពណ៌នា​រូបថត​ទេ។">
            <a:extLst>
              <a:ext uri="{FF2B5EF4-FFF2-40B4-BE49-F238E27FC236}">
                <a16:creationId xmlns:a16="http://schemas.microsoft.com/office/drawing/2014/main" id="{2FC77304-5A02-48BB-91D9-F7876FF2A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42208"/>
            <a:ext cx="4140820" cy="31856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882C680-EB1E-4584-B0D2-E308D18710F8}"/>
              </a:ext>
            </a:extLst>
          </p:cNvPr>
          <p:cNvSpPr/>
          <p:nvPr/>
        </p:nvSpPr>
        <p:spPr>
          <a:xfrm>
            <a:off x="635620" y="1760431"/>
            <a:ext cx="26949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របៀបប្រើឥរិយាបថទាំងបួន </a:t>
            </a:r>
          </a:p>
        </p:txBody>
      </p:sp>
    </p:spTree>
    <p:extLst>
      <p:ext uri="{BB962C8B-B14F-4D97-AF65-F5344CB8AC3E}">
        <p14:creationId xmlns:p14="http://schemas.microsoft.com/office/powerpoint/2010/main" val="27177569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0C6EDB-7092-46C1-81DB-F13BB7B357CB}"/>
              </a:ext>
            </a:extLst>
          </p:cNvPr>
          <p:cNvSpPr/>
          <p:nvPr/>
        </p:nvSpPr>
        <p:spPr>
          <a:xfrm>
            <a:off x="681984" y="110052"/>
            <a:ext cx="18790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ទី ២ ៖ ឥរិយាបថឈរ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4A6B1-CB44-4F03-955B-2E110DFECB8A}"/>
              </a:ext>
            </a:extLst>
          </p:cNvPr>
          <p:cNvSpPr/>
          <p:nvPr/>
        </p:nvSpPr>
        <p:spPr>
          <a:xfrm>
            <a:off x="681984" y="496730"/>
            <a:ext cx="5049743" cy="2650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ដាក់ជើងទាំងពីរទន្ទឹមគ្នា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ដាក់ជើងទាំងពីរទម្លាក់ចុះត្រង់ឬឱបដៃដាក់ទៅខាងមុខ ឬខាងក្រោយ ដោយយកដៃស្តាំចាប់លើដៃឆ្វេង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ឈរតម្រង់ដងខ្លួនឲត្រង់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ឈរតម្រង់មុខឲត្រង់ កុំឈ្ងោកពេក ងើបពេក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កំណត់ផ្លូវដង្ហើម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កំណត់រូបរាងខណៈពេលកំពុងឈរ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បន្ទាប់មកពិនិត្យមើលខ្យល់ដង្ហើមចេញចូល ។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27BFE-1B96-4528-81B7-90587CA31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766" y="540939"/>
            <a:ext cx="2252764" cy="25623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2A0F43-980B-435E-8B09-5A0814A99B5E}"/>
              </a:ext>
            </a:extLst>
          </p:cNvPr>
          <p:cNvSpPr/>
          <p:nvPr/>
        </p:nvSpPr>
        <p:spPr>
          <a:xfrm>
            <a:off x="681984" y="3103247"/>
            <a:ext cx="186140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ទី ៣ ៖ ឥរិយាបថដើរ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2532F-5EC4-4808-9671-0F11C2FE8614}"/>
              </a:ext>
            </a:extLst>
          </p:cNvPr>
          <p:cNvSpPr/>
          <p:nvPr/>
        </p:nvSpPr>
        <p:spPr>
          <a:xfrm>
            <a:off x="681984" y="3462271"/>
            <a:ext cx="8707343" cy="1681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ដាក់ជើងទាំងពីរទន្ទឹមគ្នា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ដាក់ជើងទាំងពីរទម្លាក់ចុះត្រង់ឬឱបដៃដាក់ទៅខាងមុខឬខាងក្រោយ ដោយយកដៃស្តាំចាប់លើដៃឆ្វេង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ដើរឈានម្តងមួយជំហានៗ មិនលឿនពេក មិនយឺតពេក ដោយដងខ្លួនត្រង់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ដើរដោយតម្រង់មុខឲត្រង់ កុំឈ្ងោកពេក កុំងើយពេក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ដើរដោយការកំណត់ផ្លូវដង្ហើម ។</a:t>
            </a:r>
            <a:endParaRPr lang="km-KH" dirty="0"/>
          </a:p>
        </p:txBody>
      </p:sp>
    </p:spTree>
    <p:extLst>
      <p:ext uri="{BB962C8B-B14F-4D97-AF65-F5344CB8AC3E}">
        <p14:creationId xmlns:p14="http://schemas.microsoft.com/office/powerpoint/2010/main" val="30874507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B546F5-6153-44A9-8324-7E2D86D724FB}"/>
              </a:ext>
            </a:extLst>
          </p:cNvPr>
          <p:cNvSpPr/>
          <p:nvPr/>
        </p:nvSpPr>
        <p:spPr>
          <a:xfrm>
            <a:off x="696690" y="102617"/>
            <a:ext cx="190308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ទី ៤ ៖ ឥរិយាបថដេក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2941D1-6985-44A6-8FDD-C30C9476F617}"/>
              </a:ext>
            </a:extLst>
          </p:cNvPr>
          <p:cNvSpPr/>
          <p:nvPr/>
        </p:nvSpPr>
        <p:spPr>
          <a:xfrm>
            <a:off x="696690" y="533504"/>
            <a:ext cx="8707343" cy="1681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ដេកផ្អៀងទៅខាងស្តាំ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ដាក់ជើងឆ្វេងលើជើងស្តាំ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ដាក់ដៃឆ្វេងលើភ្លៅខាងឆ្វេង ដៃស្តាំដាក់ក្បែរថ្ពាល់ស្តាំ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ការកំណត់ផ្លូវដង្ហើម និងរូបរាងពេលកំពុងដេក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បន្ទាប់មកពិនិត្យមើលខ្យល់ដង្ហើមចេញចូល ។ </a:t>
            </a:r>
          </a:p>
        </p:txBody>
      </p:sp>
      <p:pic>
        <p:nvPicPr>
          <p:cNvPr id="4098" name="Picture 2" descr="ហេតុផលទាំង ៥យ៉ាងដែលអ្នកគួរតែគេងផ្អៀងទៅខាងឆ្វេង... - 柬埔寨头条">
            <a:extLst>
              <a:ext uri="{FF2B5EF4-FFF2-40B4-BE49-F238E27FC236}">
                <a16:creationId xmlns:a16="http://schemas.microsoft.com/office/drawing/2014/main" id="{1625BA9C-742C-4406-8A56-0EF95A4F2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069" y="533505"/>
            <a:ext cx="2992804" cy="192394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21EDE1-AF31-423B-B279-5CD361CAECC6}"/>
              </a:ext>
            </a:extLst>
          </p:cNvPr>
          <p:cNvSpPr/>
          <p:nvPr/>
        </p:nvSpPr>
        <p:spPr>
          <a:xfrm>
            <a:off x="696690" y="2259018"/>
            <a:ext cx="26949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របៀបប្រើឥរិយាបថទាំងបួន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B772E9-177E-428F-8E84-550DCBE12211}"/>
              </a:ext>
            </a:extLst>
          </p:cNvPr>
          <p:cNvSpPr/>
          <p:nvPr/>
        </p:nvSpPr>
        <p:spPr>
          <a:xfrm>
            <a:off x="927149" y="2645620"/>
            <a:ext cx="4572000" cy="38856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មានសតិជានិច្ចនឹកដល់ខ្យល់ដកដង្ហើមចេញ ចូល ៖ </a:t>
            </a:r>
          </a:p>
        </p:txBody>
      </p:sp>
      <p:pic>
        <p:nvPicPr>
          <p:cNvPr id="4100" name="Picture 4" descr="គន្លឹះសំខាន់ៗ ដើម្បីអនុវត្តឱ្យត្រឹមត្រូវក្នុងពេលធ្វើចត្តាឡីស័ក  និងជួយកាត់បន្ថយភាពតានតឹង AMS Central">
            <a:extLst>
              <a:ext uri="{FF2B5EF4-FFF2-40B4-BE49-F238E27FC236}">
                <a16:creationId xmlns:a16="http://schemas.microsoft.com/office/drawing/2014/main" id="{8A623387-144F-4722-8D27-C3F389E18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90" y="2977051"/>
            <a:ext cx="3875310" cy="21374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BF1777-D024-48F2-AB26-812ECC09A575}"/>
              </a:ext>
            </a:extLst>
          </p:cNvPr>
          <p:cNvSpPr/>
          <p:nvPr/>
        </p:nvSpPr>
        <p:spPr>
          <a:xfrm>
            <a:off x="4930436" y="3015278"/>
            <a:ext cx="4213564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ខ្យល់ដកដង្ហើមចេញ ចូលវែង ក៏ដឹង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ខ្យល់ដកដង្ហើមចេញ ចូលខ្លី ក៏ដឹង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ខ្យល់ដង្ហើមគ្រោតគ្រាត ក៏ដឹង </a:t>
            </a:r>
          </a:p>
          <a:p>
            <a:pPr>
              <a:lnSpc>
                <a:spcPct val="150000"/>
              </a:lnSpc>
              <a:tabLst>
                <a:tab pos="3413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(​ ខ្យល់រត់ចុះឡើងពេញខ្លួន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ខ្យល់ដង្ហើមសុខម ក៏ដឹង </a:t>
            </a:r>
          </a:p>
          <a:p>
            <a:pPr>
              <a:lnSpc>
                <a:spcPct val="150000"/>
              </a:lnSpc>
              <a:tabLst>
                <a:tab pos="3413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( ខ្យល់ល្អិតតូចៗ ) </a:t>
            </a:r>
          </a:p>
        </p:txBody>
      </p:sp>
    </p:spTree>
    <p:extLst>
      <p:ext uri="{BB962C8B-B14F-4D97-AF65-F5344CB8AC3E}">
        <p14:creationId xmlns:p14="http://schemas.microsoft.com/office/powerpoint/2010/main" val="23607845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781E17-AC10-466A-8A1F-BDCB3B54FD91}"/>
              </a:ext>
            </a:extLst>
          </p:cNvPr>
          <p:cNvSpPr/>
          <p:nvPr/>
        </p:nvSpPr>
        <p:spPr>
          <a:xfrm>
            <a:off x="728119" y="482217"/>
            <a:ext cx="8434040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ប្រមូលអារម្មណ៍មកដាក់នៅក្រោមដើមទ្រូង ឬត្រង់ផ្ចិតប្រមាណ ៤-៥នាទី បង្អូសឡើងមកចុងច្រមុះ ឬបបូរមាត់ខាងលើយឺតៗ កំណត់ដង្ហើមចេញដង្ហើមចូល។ បើដង្ហើមវែងទុកឱ្យវាវែង បើដង្ហើមខ្លីទុកឱ្យវាខ្លី កុំ ព្យាយាមដកដង្ហើមវែង ឱ្យទៅជាខ្លី កុំដកដង្ហើមខ្លី ឱ្យទៅជាវែងឱ្យសោះ ដោយទុកឱ្យវាចេញចូលតាមធម្មជាតិ របស់វា។ យើងមានតួនាទីត្រឹមតែកំណត់ដឹង ដង្ហើមចេញ ឱ្យដឹងថា ចេញ ដង្ហើមចូល ឱ្យដឹងថា ចូល ប៉ុណ្ណោះ 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C55CCB-7846-45D8-812F-B5B75A930F08}"/>
              </a:ext>
            </a:extLst>
          </p:cNvPr>
          <p:cNvSpPr/>
          <p:nvPr/>
        </p:nvSpPr>
        <p:spPr>
          <a:xfrm>
            <a:off x="728119" y="89569"/>
            <a:ext cx="284885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កំណត់រូបរាងពេលកំពុងអង្គុយ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E65AA1-1AB2-4291-8E04-3FD0F67DFDA9}"/>
              </a:ext>
            </a:extLst>
          </p:cNvPr>
          <p:cNvSpPr/>
          <p:nvPr/>
        </p:nvSpPr>
        <p:spPr>
          <a:xfrm>
            <a:off x="728119" y="1840281"/>
            <a:ext cx="8508381" cy="2373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 ការចេញចាកពីសមាធិ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ពេលយើងធ្វើសមាធិរួច បើយើងចង់ចាកចេញពីសមាធិ សូមដកដង្ហើមវែងៗឱ្យបាន ៣ ដង បន្ទាប់មកបន្តផ្សាយអារម្មណ៍ ផ្សាយមេត្តាចិត្តចំពោះខ្លួនឯង ដោយចាប់ពីចុងសក់ រួចតាមផ្ទៃមុខ រួច ចុះមកតាមស្មា ដងខ្លួន រហូតដល់ចុងជើងឱ្យបាន ៣ ដង ដោយសូត្រ អធិដ្ឋានក្នុងចិត្តថា៖</a:t>
            </a:r>
          </a:p>
          <a:p>
            <a:pPr lvl="1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សូមឱ្យខ្ញុំ បាននូវសេចក្តីសុខ ប្រាស់ចាកសេចក្តីទុក្ខទាំងពួង </a:t>
            </a:r>
          </a:p>
          <a:p>
            <a:pPr lvl="1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សូមឱ្យខ្ញុំ មិនមានពៀរវេរា មិនមានសត្រូវបៀតបៀន</a:t>
            </a:r>
          </a:p>
          <a:p>
            <a:pPr lvl="1"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សូមឱ្យ សព្វសត្វបាននូវសេចក្ដីសុខគ្រប់ៗគ្នា ។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24DF0F-E354-45DB-AEA6-CDE035A62A08}"/>
              </a:ext>
            </a:extLst>
          </p:cNvPr>
          <p:cNvSpPr/>
          <p:nvPr/>
        </p:nvSpPr>
        <p:spPr>
          <a:xfrm>
            <a:off x="635619" y="4287496"/>
            <a:ext cx="8508381" cy="856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2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ចំណាំៈ </a:t>
            </a:r>
            <a:r>
              <a:rPr lang="km-KH" sz="1100" dirty="0">
                <a:latin typeface="Khmer CN Samlot" panose="02000500000000020004" pitchFamily="2" charset="0"/>
                <a:cs typeface="Khmer CN Samlot" panose="02000500000000020004" pitchFamily="2" charset="0"/>
              </a:rPr>
              <a:t>យើងអាចធ្វើសមាធិ ដោយប្រើឥរិយាបថទាំងបួនជាបន្តបន្ទាប់គ្នាក៏បាន៖ ដោយចាប់ផ្តើមពី (១) អង្គុយសមាធិ រយៈពេល ១០ នាទី បន្ទាប់មក (២) ឈរសមាធិ រយៈពេល ៥ នាទី បន្ទាប់មកទៀត (៣) ដើរសមាធិ រយៈពេល ៥ នាទី និង(៤) ដេកសមាធិ រយៈពេល ៥ នាទី រួចហើយផ្សាយមេត្តាចិត្ត និងចាកចេញពីសមាធិ។ បើដល់ម៉ោងចូលដេក យើងអាចបន្តសម្រាន្តតែម្តង។</a:t>
            </a:r>
          </a:p>
        </p:txBody>
      </p:sp>
    </p:spTree>
    <p:extLst>
      <p:ext uri="{BB962C8B-B14F-4D97-AF65-F5344CB8AC3E}">
        <p14:creationId xmlns:p14="http://schemas.microsoft.com/office/powerpoint/2010/main" val="40556863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blogger.googleusercontent.com/img/b/R29vZ2xl/AVvXsEhC1mMtKM7hfZ9Mk2vn6lhcgGR1xCH5LBhN6Sd_bF7ggTBg-E80gKTO_Yw2Wy06uS-hGaRHH6zqY4nXXPw05hClveOS2-2VSzRlnG0fWomezV5UBodwbtRCGg2t3uuunipTsOzoaorHYEk/s1600/hqdefault.jpg">
            <a:extLst>
              <a:ext uri="{FF2B5EF4-FFF2-40B4-BE49-F238E27FC236}">
                <a16:creationId xmlns:a16="http://schemas.microsoft.com/office/drawing/2014/main" id="{7068387B-455E-4F3C-B1D9-E39349D6D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8" y="550127"/>
            <a:ext cx="4040458" cy="459337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សីល សមាធិ បញ្ញា ជាគោលការណ៍គ្រឹះ​សម្រាប់រស់នៅប្រកបដោយគុណតម្លៃ | Krama Post -  Official Site">
            <a:extLst>
              <a:ext uri="{FF2B5EF4-FFF2-40B4-BE49-F238E27FC236}">
                <a16:creationId xmlns:a16="http://schemas.microsoft.com/office/drawing/2014/main" id="{70004721-2E5E-48B9-8295-3676F3233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946" y="550127"/>
            <a:ext cx="4453054" cy="459337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042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ទទួលពន្លឺព្រះអាទិត្យបានត្រឹមត្រូវ ផ្ដល់អត្ថប្រយោជន៍ជាច្រើនដល់សុខភាព">
            <a:extLst>
              <a:ext uri="{FF2B5EF4-FFF2-40B4-BE49-F238E27FC236}">
                <a16:creationId xmlns:a16="http://schemas.microsoft.com/office/drawing/2014/main" id="{A69E8206-4934-41D6-9420-6D3CDFCC8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147" y="553521"/>
            <a:ext cx="6866867" cy="457885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F9154A-96C5-43DD-A409-446BFA819C3D}"/>
              </a:ext>
            </a:extLst>
          </p:cNvPr>
          <p:cNvSpPr/>
          <p:nvPr/>
        </p:nvSpPr>
        <p:spPr>
          <a:xfrm>
            <a:off x="588216" y="11126"/>
            <a:ext cx="3278462" cy="4732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8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សារៈប្រយោជន៍នៃការទប់កំហឹង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FF2371-690B-4E67-A841-4D61E1368781}"/>
              </a:ext>
            </a:extLst>
          </p:cNvPr>
          <p:cNvSpPr/>
          <p:nvPr/>
        </p:nvSpPr>
        <p:spPr>
          <a:xfrm>
            <a:off x="3015006" y="790124"/>
            <a:ext cx="3363492" cy="47320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8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សារៈប្រយោជន៍នៃការទប់កំហឹង</a:t>
            </a:r>
          </a:p>
        </p:txBody>
      </p:sp>
    </p:spTree>
    <p:extLst>
      <p:ext uri="{BB962C8B-B14F-4D97-AF65-F5344CB8AC3E}">
        <p14:creationId xmlns:p14="http://schemas.microsoft.com/office/powerpoint/2010/main" val="41575889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0FCA94-6167-4B48-AAC6-D96B6F0B94CE}"/>
              </a:ext>
            </a:extLst>
          </p:cNvPr>
          <p:cNvSpPr/>
          <p:nvPr/>
        </p:nvSpPr>
        <p:spPr>
          <a:xfrm>
            <a:off x="631904" y="582589"/>
            <a:ext cx="8408018" cy="4589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អ្នកដែលទប់កំហឹងបាន ចិត្តរបស់គេតែងមាននូវសេចក្តីអាណិតចំពោះអ្នកដទៃ ហើយអាចយកឈ្នះ ចិត្តអ្នកដទៃបានជាជ័យជម្នះដ៏ប្រសើរ។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អ្នកមានមេត្តាមិនមានកំហឹងគឺជាអ្នកធ្វើនូវប្រយោជន៍ដល់ខ្លួនឯង និងប្រយោជន៍អ្នកដទៃ។ បុគ្គលមិនមានកំហឹងបានធ្វើចិត្តឱ្យស្រស់ថ្លា ស្អាតផូរផង់ និងមានសេចក្ដីសុខ។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មនុស្សមិនមានកំហឹង ចិត្តប្រកបដោយមេត្តា (ប៊ុនឆាយ, ២០២២) តែងទទួលបានប្រយោជន៍ទាំង ១១ ចំណុចដូចខាងក្រោមនេះ  ៖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ដេកលក់ស្រួល៖ បើយើងមិនមានកំហឹងក្នុងចិត្តទេ យើងប្រាសដេកលក់ស្រួល លក់ស្ងប់ មិនក្ត ក្រហាយ និងកង្វល់ចិត្ត។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ភ្ញាក់ពីដេកដ៏ស្រស់ស្រាយ ដេកលក់ស្កប់ និងសប្បាយរីករាយក្នុងចិត្ត ដោយមិនបានធ្វើអំពើ អាក្រក់តាមកំហឹង ហើយនឹកឃើញអំពើល្អដែលខ្លួនបានធ្វើ ។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មិនយល់សប្តិអាក្រក់៖ មិនបានធ្វើអាក្រក់តាមកំហឹង ពេលគេងគឺមិនមានយល់សប្តិទេ តែយល់ស ប្តីក៏ឃើញតែអារម្មណ៍ល្អៗ ដូចជា ថ្វាយបង្គំព្រះរតនត្រៃ ធ្វើបុណ្យទានផ្សេងៗ ដើរកម្សាន្ត ជួបជុំសាច់ញាតិ និងមនុស្សជាទីស្រឡាញ់ជាដើម។</a:t>
            </a:r>
          </a:p>
          <a:p>
            <a:pPr>
              <a:lnSpc>
                <a:spcPct val="150000"/>
              </a:lnSpc>
            </a:pPr>
            <a:endParaRPr lang="km-KH" dirty="0"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80CFD4-96DE-4D27-B956-59E41F8C81BA}"/>
              </a:ext>
            </a:extLst>
          </p:cNvPr>
          <p:cNvSpPr/>
          <p:nvPr/>
        </p:nvSpPr>
        <p:spPr>
          <a:xfrm>
            <a:off x="631904" y="109957"/>
            <a:ext cx="2315057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OS Muol Light" panose="02000500000000020004" pitchFamily="2" charset="0"/>
                <a:cs typeface="Khmer OS Muol Light" panose="02000500000000020004" pitchFamily="2" charset="0"/>
              </a:rPr>
              <a:t>៥.១ ផលប្រយោជន៍ទូទៅ</a:t>
            </a:r>
          </a:p>
        </p:txBody>
      </p:sp>
    </p:spTree>
    <p:extLst>
      <p:ext uri="{BB962C8B-B14F-4D97-AF65-F5344CB8AC3E}">
        <p14:creationId xmlns:p14="http://schemas.microsoft.com/office/powerpoint/2010/main" val="17139408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1A3793-ED54-4015-AE17-DE3A59946966}"/>
              </a:ext>
            </a:extLst>
          </p:cNvPr>
          <p:cNvSpPr/>
          <p:nvPr/>
        </p:nvSpPr>
        <p:spPr>
          <a:xfrm>
            <a:off x="657922" y="500565"/>
            <a:ext cx="8367132" cy="4589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មនុស្សស្រឡាញ់ចូលចិត្ត៖ មិនមានកំហឹង និងមានការអាណិតស្រឡាញ់ចំពោះអ្នកដទៃ គេរមែងកក់ក្តៅ រីករាយ មានសេចក្តីសុខ ហើយរមែងផ្តល់ក្តីស្រឡាញ់នោះមកវិញ 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អមនុស្សស្រឡាញ់ចូលចិត្ត៖ មនុស្សមានមេត្តា មិនមានកំហឹង មានក្តីអាណិតស្រឡាញ់មិនសូម្បី តែមនុស្សទេ ទោះទេវតា ខ្មោច ព្រាយបិសាច រហូតដល់សត្វផ្សេងៗ ក៏អាចធ្វើឱ្យពួកគេផ្តល់ក្តីស្រឡាញ់មក វិញបានដែរ។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ទេវតាជួយថែរក្សា៖ មនុស្សមានមេត្តា នៅទីណា ទៅទីណា ពិសេសការធ្វើដំណើរទៅគ្រប់ទិសទី ចូលព្រៃ ឡើងភ្នំ ទេវតាតែងមកថែរក្សា។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មិនមានគ្រោះថ្នាក់ដោយអាវុធផ្សេងៗ៖ កំហឹងតែងបង្កើតអន្តរាយដោយយកវត្ថុផ្សេងៗ ធ្វើជា អាវុធ ពេលមនុស្សមានចិត្តមេត្តា អ្វីៗទាំងអស់នោះមិនបង្កទៅជាគ្រោះថ្នាក់នោះឡើយ។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មានចិត្តរឹងមាំ មិនងាយឆេវឆាវ ឆាប់យល់ដឹងពីស្ថានការណ៍៖ មេត្តាធម៌ ជួយជំរុញឱ្យយើងធ្វើអំពើ ល្អដទៃទៀតខ្លាំងក្លាណាស់ ដូចជាការឱ្យទាន ការរក្សាសីលក្តី ព្រមទាំងធ្វើសមាធិ។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មានសម្បុរមុខស្រស់ថ្លា៖ មនុស្សមិនមានកំហឹង និងមានមេត្តាធ្វើឱ្យរូបស្រស់បស់ ទឹកមុខគួរឱ្យ ស្រឡាញ់រាប់អាន។ បើទោះបី គេមានរូបស្អាតពីកំណើតមក ក៏ដោយសារអំពើបុណ្យដែលបានធ្វើ ប្រកបដោយ មេត្តាចិត្តដែរ។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មិនវង្វេងស្មារតីនៅពេលជិតស្លាប់ ព្រោះមិនសន្សំការខឹងក្រោធដែលជាបាបនាំឱ្យវង្វេងនោះ ឡើយ ហើយមានធម៌មេត្តាជាប្រភពធ្វើឱ្យស្មារតីចម្រើន ។</a:t>
            </a:r>
          </a:p>
        </p:txBody>
      </p:sp>
    </p:spTree>
    <p:extLst>
      <p:ext uri="{BB962C8B-B14F-4D97-AF65-F5344CB8AC3E}">
        <p14:creationId xmlns:p14="http://schemas.microsoft.com/office/powerpoint/2010/main" val="3152569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5FADAE-17C3-415B-B113-88CC41875A3C}"/>
              </a:ext>
            </a:extLst>
          </p:cNvPr>
          <p:cNvSpPr/>
          <p:nvPr/>
        </p:nvSpPr>
        <p:spPr>
          <a:xfrm>
            <a:off x="643054" y="534654"/>
            <a:ext cx="8404302" cy="711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. កាលបើមិនទាន់ត្រាស់ដឹងនូវគុណធម៌ជាន់ខ្ពស់ គឺព្រះអរហន្តទេ រមែងចូលទៅកាន់ព្រហ្មលោក ដោយអំណាចនៃមេត្តាចេតោវិមុត្តិ។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09C638-6211-4E04-B39F-E8A4EFFF7DA1}"/>
              </a:ext>
            </a:extLst>
          </p:cNvPr>
          <p:cNvSpPr/>
          <p:nvPr/>
        </p:nvSpPr>
        <p:spPr>
          <a:xfrm>
            <a:off x="643054" y="1422551"/>
            <a:ext cx="8404302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ប្រសិនបើយើង នៅច្រើនទៅដោយកំហឹង ឈ្មោះថា ជាអ្នកនៅឆ្ងាយអំពីការបានផលប្រយោជន៍ទាំងនេះ ដូច្នេះ យើងគួរព្យាយាមលះបង់កំហឹង ចម្រើនមេត្តាឱ្យជាធម៌ប្រចាំចិត្ត ប្រចាំជីវិត ហ្វឹកហាត់អប់រំឱ្យមានមេត្តា ជាប្រក្រតីរៀងរាល់ថ្ងៃព្រោះថា បើមេត្តាចិត្តនៅមិនទាន់បានមាំទាំទេ គឺមិនអាចយកឈ្នះកំហឹងបានឡើយ។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981509-7AE1-4DD4-836E-35E5250E12E3}"/>
              </a:ext>
            </a:extLst>
          </p:cNvPr>
          <p:cNvSpPr/>
          <p:nvPr/>
        </p:nvSpPr>
        <p:spPr>
          <a:xfrm>
            <a:off x="643054" y="2571750"/>
            <a:ext cx="8404302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សរុបមក យើងមានមេត្តាធម៌ មុខយើងភ្លឺថ្លា ស្រស់ញញឹមនិងមានសម្រស់ល្អ ។ មេត្តាដូចទឹក ប្រសិនបើយើងយកទឹកកំពុងពុះក្តៅចេញពីជើងក្រាន ហើយទុកយូរបន្តិចទៅ វានឹងត្រជាក់បន្តិចម្ដងៗ។ ជួនកាល យើងក្តៅដោយភ្លើងទោសៈ តែយើងអាចធ្វើឱ្យត្រជាក់ទៅវិញ ដោយការចម្រើនមេត្តា។</a:t>
            </a:r>
            <a:endParaRPr lang="km-K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2BF60-3921-46D7-B107-C27E23A058B3}"/>
              </a:ext>
            </a:extLst>
          </p:cNvPr>
          <p:cNvSpPr/>
          <p:nvPr/>
        </p:nvSpPr>
        <p:spPr>
          <a:xfrm>
            <a:off x="643054" y="3752063"/>
            <a:ext cx="2898550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OS Muol" panose="02000500000000020004" pitchFamily="2" charset="0"/>
                <a:cs typeface="Khmer OS Muol" panose="02000500000000020004" pitchFamily="2" charset="0"/>
              </a:rPr>
              <a:t>៥.២ ផលប្រយោជន៍សម្រាប់ខ្លួន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372B2-C358-478D-B706-AF68E7D08F87}"/>
              </a:ext>
            </a:extLst>
          </p:cNvPr>
          <p:cNvSpPr/>
          <p:nvPr/>
        </p:nvSpPr>
        <p:spPr>
          <a:xfrm>
            <a:off x="643054" y="4210342"/>
            <a:ext cx="8069765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មិនមានចងគំនុំគុំកួន ព្យាបាទអ្នកដទៃនៅក្នុងចិត្ត មិនក្តៅក្រហាយក្នុងចិត្ត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មិនមានការជេរ ប្រទេច ប្រមាថ តាមពាក្យសំដី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km-KH" dirty="0">
              <a:latin typeface="Khmer CN Samlot" panose="02000500000000020004" pitchFamily="2" charset="0"/>
              <a:cs typeface="Khmer CN Samlot" panose="02000500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7314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3B439D-D623-47D2-A677-E0273C3BD196}"/>
              </a:ext>
            </a:extLst>
          </p:cNvPr>
          <p:cNvSpPr/>
          <p:nvPr/>
        </p:nvSpPr>
        <p:spPr>
          <a:xfrm>
            <a:off x="661638" y="380523"/>
            <a:ext cx="8408021" cy="4266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km-KH" dirty="0">
              <a:latin typeface="Khmer CN Samlot" panose="02000500000000020004" pitchFamily="2" charset="0"/>
              <a:cs typeface="Khmer CN Samlot" panose="02000500000000020004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មិនមានការវាយទាត់ធាក់ តាមទង្វើដោយកាយ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ធ្វើឱ្យអ្នកស្រឡាញ់ កាន់តែស្រឡាញ់ ដោយមិនទៅជាស្អប់និងបែកបាក់គ្នា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ធ្វើឱ្យមិត្ត ទៅជាកល្យាណមិត្ត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ធ្វើឱ្យក្លាយជាមនុស្សស្លូត គួរឱ្យគោរព ស្រឡាញ់ និងចង់រាប់អាន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ធ្វើឱ្យជាមនុស្សមានបញ្ញាស្មារតី ឆ្លាតវៀងវៃ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មិនមានការបែកបាក់ និងជាប់គុកច្រវាក់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ធ្វើឱ្យជីវិតមានសេចក្តីសុខទាំងផ្លូវកាយនិងផ្លូវចិត្ត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រក្សាភាពស្រស់ស្អាតនៅលើមុខរបស់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ធ្វើឱ្យយើងក្លាយទៅជាមនុស្សមុខទេវតា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ធ្វើឱ្យយើងទទួលបានការគោរពនិងក្តីស្រឡាញ់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ធ្វើឱ្យយើងមានអារម្មណ៍ល្អ ស្រស់ស្រាយ អាកប្បកិរិយាក៏មិនខុសប្រក្រតី ធ្វើកិច្ចការងារបានល្អ មានសេចក្តីសុខ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ធ្វើឱ្យសម្បូរអ្នករាប់អាន មិនមានសត្រូវ ទទួលបានជោគជ័យនិងសម្រេចគោលបំណងក្នុងជីវិត ។</a:t>
            </a:r>
          </a:p>
        </p:txBody>
      </p:sp>
    </p:spTree>
    <p:extLst>
      <p:ext uri="{BB962C8B-B14F-4D97-AF65-F5344CB8AC3E}">
        <p14:creationId xmlns:p14="http://schemas.microsoft.com/office/powerpoint/2010/main" val="32551388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75FBA0-4E79-435D-9218-733B7A22861E}"/>
              </a:ext>
            </a:extLst>
          </p:cNvPr>
          <p:cNvSpPr/>
          <p:nvPr/>
        </p:nvSpPr>
        <p:spPr>
          <a:xfrm>
            <a:off x="676647" y="637894"/>
            <a:ext cx="8415314" cy="1358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ធ្វើឱ្យអ្នកស្រឡាញ់ កាន់តែស្រឡាញ់គ្នា មិនប្រែទៅជាស្អប់និងបែកបាក់គ្នា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ធ្វើឱ្យប្ដីប្រពន្ធមិនឈ្លោះប្រកែកគ្នា វាយទាត់ធាក់ និងប្រើអំពើហិង្សា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ធ្វើឱ្យគ្រួសារមានភាពកក់ក្ដៅ មិនបែកបាក់ព្រាត់ប្រាសគ្រួសារដោយបន្សល់ទុកកូនកំព្រា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ធ្វើឱ្យជីវភាពគ្រួសារមិនក្រលំបាក ធូរធារ និងរីកចម្រើនជាបន្តបន្ទាប់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CC70D-B399-4126-B3D3-DAF3B1E608BB}"/>
              </a:ext>
            </a:extLst>
          </p:cNvPr>
          <p:cNvSpPr/>
          <p:nvPr/>
        </p:nvSpPr>
        <p:spPr>
          <a:xfrm>
            <a:off x="676647" y="72880"/>
            <a:ext cx="3161443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OS Muol" panose="02000500000000020004" pitchFamily="2" charset="0"/>
                <a:cs typeface="Khmer OS Muol" panose="02000500000000020004" pitchFamily="2" charset="0"/>
              </a:rPr>
              <a:t>៥.៣ ផលប្រយោជន៍សម្រាប់គ្រួសារ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6ED369-3AE5-4CDE-BDCC-C8938B46DA9C}"/>
              </a:ext>
            </a:extLst>
          </p:cNvPr>
          <p:cNvSpPr/>
          <p:nvPr/>
        </p:nvSpPr>
        <p:spPr>
          <a:xfrm>
            <a:off x="676647" y="2183182"/>
            <a:ext cx="3082895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OS Muol" panose="02000500000000020004" pitchFamily="2" charset="0"/>
                <a:cs typeface="Khmer OS Muol" panose="02000500000000020004" pitchFamily="2" charset="0"/>
              </a:rPr>
              <a:t>៥.៤ ផលប្រយោជន៍សម្រាប់សង្គម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B417F8-594C-452A-A673-E8B429F2C4B1}"/>
              </a:ext>
            </a:extLst>
          </p:cNvPr>
          <p:cNvSpPr/>
          <p:nvPr/>
        </p:nvSpPr>
        <p:spPr>
          <a:xfrm>
            <a:off x="676647" y="2797948"/>
            <a:ext cx="8355841" cy="200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ធ្វើឱ្យអ្នកធំ មានមេត្តា អាណិតស្រឡាញ់ និងមិនធ្វើបាបអ្នកតូច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ធ្វើឱ្យអ្នកតូចគោរពស្រឡាញ់ទាំងទីចំពោះមុខ និងខាងក្រោយខ្នង ហើយមិនមានចងគុំកួននិង</a:t>
            </a:r>
          </a:p>
          <a:p>
            <a:pPr>
              <a:lnSpc>
                <a:spcPct val="150000"/>
              </a:lnSpc>
              <a:tabLst>
                <a:tab pos="341313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ចងអាឃាតអ្នកធំ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ធ្វើឱ្យយើងមិនបាត់បង់ការងារ និងមិនបែកបាក់សាមគ្គីមិត្តរួមការងារ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3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ធ្វើឱ្យមិនបង្កជាជម្លោះបែកបាក់សាមគ្គីផ្ទៃក្នុង នៅក្នុងអង្គភាព ស្ថាប័ន និងសង្គម។ល។ និង ៥. ធ្វើឱ្យសង្គមជាតិមានវឌ្ឍនភាព សាមគ្គីភាព និងសុខសន្តិភាព។</a:t>
            </a:r>
          </a:p>
        </p:txBody>
      </p:sp>
    </p:spTree>
    <p:extLst>
      <p:ext uri="{BB962C8B-B14F-4D97-AF65-F5344CB8AC3E}">
        <p14:creationId xmlns:p14="http://schemas.microsoft.com/office/powerpoint/2010/main" val="20238715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ADA13E6-7039-4174-AF02-33A0C826F7F2}"/>
              </a:ext>
            </a:extLst>
          </p:cNvPr>
          <p:cNvSpPr/>
          <p:nvPr/>
        </p:nvSpPr>
        <p:spPr>
          <a:xfrm>
            <a:off x="676647" y="572961"/>
            <a:ext cx="8467353" cy="26507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បុគ្គលមិនមានកំហឹងរមែងមានពណ៌សម្បុរស្អាត មិនដេកជាទុក្ខ មិនបែកមិត្តនិងមិនអស់យស។ល។ បុគ្គលអ្នកមិនមានកំហឹងដឹងថា សេចក្ដីកំហឹងនោះ គឺជាភ័យដែលកើតឡើងក្នុងខ្លួន។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បុគ្គលអ្នកមិនមានកំហឹងរមែងដឹងប្រយោជន៍ រមែងឃើញធម៌។ បុគ្គលមិនមានកំហឹងគ្របសង្កត់ មាន តែភាពភ្លឺស្វាងជានិច្ច។ អ្នកមិនមានកំហឹង មិនធ្វើនូវអំពើអាក្រក់នោះទេ តែងរកវិធីធ្វើអំពើល្អជំនួសវិញដែរ ហើយមិនមាននូវវិប្បដិសារី និងការក្ដៅក្រហាយស្តាយក្រោយឡើយ។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មនុស្សមិនមានកំហឹង ជាអ្នកដែលមានទឹកមុខស្រស់ស្រាយពីខាងក្នុង មិនទុកឱកាសឱ្យកំហឹង បញ្ចេញឥទ្ធិពល ចេះខ្មាសអៀនអំពើទុច្ចរិត និងចេះឱ្យតម្លៃមនុស្សជុំវិញខ្លួន។ ការណ៍នោះ នឹងបានផលស្នង មកវិញនូវការគោរពកោតក្រែង និងអត្ថប្រយោជន៍ផ្សេងៗទៀតពីមជ្ឈដ្ឋានជុំវិញខ្លួននោះឯង។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928D9F-BD44-4BD4-A910-7E5F753F6016}"/>
              </a:ext>
            </a:extLst>
          </p:cNvPr>
          <p:cNvSpPr/>
          <p:nvPr/>
        </p:nvSpPr>
        <p:spPr>
          <a:xfrm>
            <a:off x="676647" y="124920"/>
            <a:ext cx="2951449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OS Muol" panose="02000500000000020004" pitchFamily="2" charset="0"/>
                <a:cs typeface="Khmer OS Muol" panose="02000500000000020004" pitchFamily="2" charset="0"/>
              </a:rPr>
              <a:t>៥.៥ សរុបអត្ថប្រយោជន៍បីយ៉ាង៖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19949-E97B-452B-B374-6509BF857EAF}"/>
              </a:ext>
            </a:extLst>
          </p:cNvPr>
          <p:cNvSpPr/>
          <p:nvPr/>
        </p:nvSpPr>
        <p:spPr>
          <a:xfrm>
            <a:off x="676647" y="3983681"/>
            <a:ext cx="8467353" cy="103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” ធម៌ដែលផ្ទុយគ្នាពីសេចក្តីក្រោធគឺមេត្តា។ សេចក្តីក្រោធមានទោស បង្កផលអាក្រក់ក្រៃលែង យ៉ាងណាមេត្តាក៏មាន គុណ បង្កផលល្អច្រើនក្រៃលែងដែរ។ ដូច្នេះ អ្នកគួររម្ងាប់សេចក្តីក្រោធ ហើយតាំងចិត្តមេត្តាមកជំនួសវិញ ឱ្យមេត្តាហ្នឹងឯង ជួយ កម្ចាត់កម្ដាយ និងការពាររារាំងសេចក្ដីក្រោធរហូតដល់បានឈ្នះជាស្ថាពរ។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0209B9-A92D-48E8-92DB-9090C6465B60}"/>
              </a:ext>
            </a:extLst>
          </p:cNvPr>
          <p:cNvCxnSpPr/>
          <p:nvPr/>
        </p:nvCxnSpPr>
        <p:spPr>
          <a:xfrm>
            <a:off x="617034" y="3635298"/>
            <a:ext cx="85269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0614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40E93C-CC6B-443F-ADB1-6FA85A3AB1E3}"/>
              </a:ext>
            </a:extLst>
          </p:cNvPr>
          <p:cNvSpPr/>
          <p:nvPr/>
        </p:nvSpPr>
        <p:spPr>
          <a:xfrm>
            <a:off x="661640" y="702188"/>
            <a:ext cx="8393151" cy="3943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កំហឹងគឺជាហេតុនាំមកនូវទោសៈ វិបត្តិ និងសេចក្តីវិនាសផ្សេងៗ។ ពេលវាកើតឡើងក្នុងខ្លួននរណា ហើយ តែងដុតផ្លូវចិត្តអ្នកនោះ ឱ្យក្ដៅក្រហាយ ពិបាក និងរងទុក្ខវេទនា ហើយថែមទាំងជំរុញឱ្យបុគ្គលនោះធ្វើ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អំពើអាក្រក់ផ្សេងៗដោយគ្មានញញើត ឬខ្លាចអ្វីៗទាំងអស់។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បុគ្គលមានកំហឹងបង្កវិបត្តិដល់ខ្លួនឯង គ្រួសារ ស្ថាប័ន និងសង្គមជាតិ ហើយនឹងទទួលទុក្ខទោស វិនាសហិនហោច អស់ទ្រព្យសម្បត្តិ រលាយយស បាត់បង់ប្រយោជន៍ ព្រាត់ប្រាសចាកមិត្ត ព្រមទាំងជាប់ទោស គុកច្រវាក់ថែមទៀតផង។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លទ្ធផលនៃកំហឹងពិតជាគួរឱ្យខ្លាចពិតមែន ប៉ុន្តែទោះបីជាយ៉ាងណា យើងក៏នៅតែអាចទប់ស្កាត់វា បានដោយយើងត្រូវចេះរិះរក សិក្សា និងអនុវត្តពីវិធីសាស្ត្រទប់និងគ្រប់គ្រងកំហឹង កុំឱ្យវាកើតឡើង នៅពេល យើងទទួលអារម្មណ៍មិនល្អ ឬប៉ះនឹងសេចក្តីក្រោធផ្សេងៗ។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ជារួម ការស្វែងយល់និងអនុវត្តនូវវិធីសាស្ត្រគ្រប់គ្រងកំហឹងនឹងធ្វើឱ្យយើងចេះបង្ការ ទប់ស្កាត់ គ្រប់គ្រង និងបំបាត់កំហឹងចេញពីខ្លួនបាន ហើយទទួលបាននូវសម្បុរមុខស្រស់ស្រាយ អាកប្បកិរិយាក៏មិនខុសប្រក្រតី ធ្វើកិច្ចការងារបានល្អ មាននូវសេចក្តីសុខនិងចម្រើនរុងរឿង ក្នុងគ្រួសារ កន្លែងការងារ ស្ថាប័ន និងសង្គមជាតិ ព្រមទាំងធ្វើឱ្យយើងសម្បូរទៅដោយអ្នកគោរព រាប់អាន មិនមានសត្រូវ ទទួលបានជោគជ័យ និងសម្រេច គោលបំណងក្នុងជីវិត។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176BC4-6AAF-4F8D-8D0C-B552A4FC9DAA}"/>
              </a:ext>
            </a:extLst>
          </p:cNvPr>
          <p:cNvSpPr/>
          <p:nvPr/>
        </p:nvSpPr>
        <p:spPr>
          <a:xfrm>
            <a:off x="661640" y="87749"/>
            <a:ext cx="1822935" cy="388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dirty="0">
                <a:latin typeface="Khmer OS Muol" panose="02000500000000020004" pitchFamily="2" charset="0"/>
                <a:cs typeface="Khmer OS Muol" panose="02000500000000020004" pitchFamily="2" charset="0"/>
              </a:rPr>
              <a:t>៦. សេចក្តីសន្និដ្ឋាន</a:t>
            </a:r>
          </a:p>
        </p:txBody>
      </p:sp>
    </p:spTree>
    <p:extLst>
      <p:ext uri="{BB962C8B-B14F-4D97-AF65-F5344CB8AC3E}">
        <p14:creationId xmlns:p14="http://schemas.microsoft.com/office/powerpoint/2010/main" val="12091850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CC033C-784B-4DF4-A497-B18780E81787}"/>
              </a:ext>
            </a:extLst>
          </p:cNvPr>
          <p:cNvSpPr/>
          <p:nvPr/>
        </p:nvSpPr>
        <p:spPr>
          <a:xfrm>
            <a:off x="631902" y="526070"/>
            <a:ext cx="8370849" cy="4682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dirty="0">
                <a:latin typeface="Khmer OS Muol" panose="02000500000000020004" pitchFamily="2" charset="0"/>
                <a:cs typeface="Khmer OS Muol" panose="02000500000000020004" pitchFamily="2" charset="0"/>
              </a:rPr>
              <a:t>ឯកសារភាសាខ្មែរ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dirty="0">
                <a:latin typeface="Khmer OS Muol" panose="02000500000000020004" pitchFamily="2" charset="0"/>
                <a:cs typeface="Khmer OS Muol" panose="02000500000000020004" pitchFamily="2" charset="0"/>
              </a:rPr>
              <a:t>ឯកសារគោល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ពុទ្ធសាសនបណ្ឌិត្យ ព្រះត្រៃបិដកបាលី និង សេចក្តីប្រែជាភាសាខ្មែរ (ភ្នំពេញៈរោងពុម្ពវិទ្យាស្ថានពុទ្ធ</a:t>
            </a:r>
          </a:p>
          <a:p>
            <a:pPr>
              <a:lnSpc>
                <a:spcPct val="150000"/>
              </a:lnSpc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	សាសនបណ្ឌិត្យ ព.ស. ២៥០០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60375" algn="l"/>
              </a:tabLst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សម្ដេចព្រះសង្ឃរាជ ជួន ណាត វចនានុក្រមខ្មែរ (ភ្នំពេញៈ ការផ្សាយរបស់ពុទ្ធសាសនបណ្ឌិត្យ ព.ស. ២៥១១/គ.ស.១៩៦៧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គម្ពីវិមុត្តិមគ្គ  (THE PATH OF FREEDOM) ដោយព្រះអរហន្តឧបតិស្សៈ ប្រែពីភាសាអង់គ្លេសមកជា ភាសាខ្មែរដោយធម្មបណ្ឌិត ហេង មណីចិន្តា (ការផ្សាយរបស់ពុទ្ធសាសនាដើម្បីអភិវឌ្ឍន៍ វត្តអន្លង់វិល ស្រុកសង្កែ ខេត្តបាត់ដំបង ព្រះរាជាណាចក្រកម្ពុជា) ព.ស. ២៥៥៥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m-KH" sz="1600" b="1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សៀវភៅ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ការផ្សាយរបស់ពុទ្ធសាសនបណ្ឌិត្យ. (ព.ស.២៤៣៨). សាសនសុភាសិត ភាគ ១ សម្រាប់សាលាធម្មវិន័យ ថ្នាក់ត្រី. ភ្នំពេញ ការផ្សាយរបស់ពុទ្ធសាសនបណ្ឌិត្យ.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កេតុធម្មោ, ព. ស. (២០០២). មធ្យមវិបស្សនា (p . ១០០), កណ្ដាល: ពុទ្ធមណ្ឌលវិបស្សនាធុរៈ នៃព្រះ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រាជាណាចក្រកម្ពុជា.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B931B9-319D-4520-B2D0-71B42A750D5B}"/>
              </a:ext>
            </a:extLst>
          </p:cNvPr>
          <p:cNvSpPr/>
          <p:nvPr/>
        </p:nvSpPr>
        <p:spPr>
          <a:xfrm>
            <a:off x="3667655" y="95183"/>
            <a:ext cx="157767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dirty="0">
                <a:latin typeface="Khmer OS Muol" panose="02000500000000020004" pitchFamily="2" charset="0"/>
                <a:cs typeface="Khmer OS Muol" panose="02000500000000020004" pitchFamily="2" charset="0"/>
              </a:rPr>
              <a:t>ឯកសារយោង</a:t>
            </a:r>
          </a:p>
        </p:txBody>
      </p:sp>
    </p:spTree>
    <p:extLst>
      <p:ext uri="{BB962C8B-B14F-4D97-AF65-F5344CB8AC3E}">
        <p14:creationId xmlns:p14="http://schemas.microsoft.com/office/powerpoint/2010/main" val="18424297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7328B5-B820-4C22-A0BF-8C69AB623FBE}"/>
              </a:ext>
            </a:extLst>
          </p:cNvPr>
          <p:cNvSpPr/>
          <p:nvPr/>
        </p:nvSpPr>
        <p:spPr>
          <a:xfrm>
            <a:off x="661640" y="647339"/>
            <a:ext cx="8370848" cy="3620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 កេតុធម្មោ, ព. ស. (២០០៤). បឋមវិបស្សនា (p. ៣៨០). កណ្ដាល: ពុទ្ធមណ្ឌលវិបស្សនាធុរៈ នៃព្រះ</a:t>
            </a:r>
          </a:p>
          <a:p>
            <a:pPr>
              <a:lnSpc>
                <a:spcPct val="150000"/>
              </a:lnSpc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រាជាណាចក្រកម្ពុជា.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ពិន, ឧ. ច. (១៩៥២). នគរកាយ៖ គតិធម៌ ធៀប គតិលោក, ភ្នំពេញ: បោះពុម្ពផ្សាយជាពិសេស ដោយ លោក វ៉ាន់ សរ ឆ្នាំ២០១២.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អេន,អ . (​ ២០២០ ) .​ចិត្តវិទ្យាអប់រំតាមពុទ្ធសាសនា .​ ភ្នំពេញៈ ពុទ្ធិកសាកលវិទ្យាល័យព្រះសីហនុរាជា 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ចិត្តវិទ្យា អប់រំ ( ២០២១ 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ពុទ្ធសាសនបណ្ឌិត្យ (១៩៤៩). ត្រៃកូដធម៌, កម្ពុជសុរិយា (p . ៣៦៨). ភ្នំពេញ: ពុទ្ធសាសនបណ្ឌិត្យ- វតនៈ, ក. (២០២១). វិធីសាស្ត្រគ្រប់គ្រងចិត្តមួជំហានម្ដង. ភ្នំពេញៈ ក្រសួងអប់រំ យុវជន និងកីឡា. សតិបដ្ឋានមគ្គ. (១៩៩៥). ព. ល. យូ. ភ្នំពេញ: ពុទ្ធសាសនបណ្ឌិត្យ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dirty="0">
                <a:latin typeface="Khmer CN Samlot" panose="02000500000000020004" pitchFamily="2" charset="0"/>
                <a:cs typeface="Khmer CN Samlot" panose="02000500000000020004" pitchFamily="2" charset="0"/>
              </a:rPr>
              <a:t>សាន, ក. ស. (២០២២).រមរៀនចេតសិក និងចិត្ត (p . 196). រដ្ឋវិចតូរីយ៉ា: វត្តសមណគោតមារាម រដ្ឋវិចតូរីយ៉ ប្រទេសអូស្ត្រាលី</a:t>
            </a:r>
          </a:p>
        </p:txBody>
      </p:sp>
    </p:spTree>
    <p:extLst>
      <p:ext uri="{BB962C8B-B14F-4D97-AF65-F5344CB8AC3E}">
        <p14:creationId xmlns:p14="http://schemas.microsoft.com/office/powerpoint/2010/main" val="18741449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08AA19-6479-42CA-AA18-0611CE051242}"/>
              </a:ext>
            </a:extLst>
          </p:cNvPr>
          <p:cNvSpPr/>
          <p:nvPr/>
        </p:nvSpPr>
        <p:spPr>
          <a:xfrm>
            <a:off x="669074" y="651907"/>
            <a:ext cx="84749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rfan, U. (2016). Mental health and factors related to mental health among Pakistani university students. Waitaha Christchurch: University of Canterbury Te Whare Wananga O Waitaha Christchurch, New Zealand.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Jackie Adams, Ashley Brigandi, and Elsie Sandin. (2021, 7 13). Critical Thinking and Problem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Solving. Retrieved from 21st Century Skills: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https://sites.google.com/site/twentyfirststcenturyskills/evaluation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Jennifer Robitille and Paul LeBuffc. (2019). EDUCATOR GUIDE OPTIMISTIC THINKING.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Aperture Education.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Keo, V. (. (2015). An Analytical Study of the Realation between Human and Nature in Theravada Buddhist Philosophy. Bangkok: Mahachulalongkornrajavidyalaya University Bangkok,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Keo, V. R. (2019). The Source of Knowledge in Theravada Buddhist Philosophy. In V. R. Keo, The Source of Knowledge in Theravada Buddhist Philosophy (p. 169). Bangkok, Thailand: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Mahachulalongkornrajavidyalaya University 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Kirkegaard-Weston, E. (2005). Positive Thinking: Toward a Conceptual Model and Organizational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Implications. Honors College Theses.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May McCreaddie, Sheila Payne, Katherine Froggatt. (2010). Ensnared by positivity: A constructivist perspective on 'being positive' in cancer care. European Journal of Oncology Nursing 14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(2010) 283--290, 284-285.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N. G. Bartholomew &amp; D. D. Simpson. (2005). Understanding and reducing anger feelings. Texas :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Texas Institute of Behaviroral Research at TCU.</a:t>
            </a:r>
          </a:p>
        </p:txBody>
      </p:sp>
    </p:spTree>
    <p:extLst>
      <p:ext uri="{BB962C8B-B14F-4D97-AF65-F5344CB8AC3E}">
        <p14:creationId xmlns:p14="http://schemas.microsoft.com/office/powerpoint/2010/main" val="9218847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78F6E7-458A-4B38-87AA-5C7B0DAA56F5}"/>
              </a:ext>
            </a:extLst>
          </p:cNvPr>
          <p:cNvSpPr/>
          <p:nvPr/>
        </p:nvSpPr>
        <p:spPr>
          <a:xfrm>
            <a:off x="650487" y="571431"/>
            <a:ext cx="844147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Parnell, K. (2013). Anger Managements. Nebraska-Lincoln: University of Nebraska-Lincoln.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Patrick M. Reilly, Ph.D. Michael S. Shopshire, Ph.D. (2019). A Cognitive-Behavioral Therapy Manual. In Anger Management for Substance Use Disorder and Mental Health clients (p. 9).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5600 Fishers Lane Rockville, MD 20857: U.S. DEPARTMENT OF HEALTH AND HUMAN 	SERVICES Substance Abuse and Mental Health Services Administration Center for Substance 	Abuse Treatment.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km-KH" dirty="0"/>
              <a:t>Ratanak keo, Jaras LeekaAsst, Suwin Thongpan. (2018). The Factors of the Wise Man in the concepts</a:t>
            </a:r>
          </a:p>
          <a:p>
            <a:pPr>
              <a:tabLst>
                <a:tab pos="282575" algn="l"/>
              </a:tabLst>
            </a:pPr>
            <a:r>
              <a:rPr lang="km-KH" dirty="0"/>
              <a:t>	of Theraväda Buddhism. Journal of Buddhist Education and Research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82575" algn="l"/>
              </a:tabLst>
            </a:pPr>
            <a:r>
              <a:rPr lang="en-US" dirty="0"/>
              <a:t>WHO. ( 2022, 10, 1 ). Suicide. Retrieved-from World Health Organization : </a:t>
            </a:r>
          </a:p>
          <a:p>
            <a:pPr lvl="1">
              <a:tabLst>
                <a:tab pos="282575" algn="l"/>
              </a:tabLst>
            </a:pPr>
            <a:r>
              <a:rPr lang="en-US" dirty="0"/>
              <a:t>	</a:t>
            </a:r>
            <a:r>
              <a:rPr lang="en-US" dirty="0">
                <a:hlinkClick r:id="rId2"/>
              </a:rPr>
              <a:t>https://www.who.int/news-room/fact-sheets/detail/suicide</a:t>
            </a:r>
            <a:r>
              <a:rPr lang="en-US" dirty="0"/>
              <a:t>.  </a:t>
            </a:r>
            <a:endParaRPr lang="km-KH" dirty="0"/>
          </a:p>
        </p:txBody>
      </p:sp>
      <p:pic>
        <p:nvPicPr>
          <p:cNvPr id="4" name="Picture 3" descr="Writing Thank You Notes Is More Powerful Than We Realize, Study Shows - UT  News">
            <a:extLst>
              <a:ext uri="{FF2B5EF4-FFF2-40B4-BE49-F238E27FC236}">
                <a16:creationId xmlns:a16="http://schemas.microsoft.com/office/drawing/2014/main" id="{DF64F848-F809-4663-BE59-5C77B75FA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926" y="3033644"/>
            <a:ext cx="3367668" cy="202807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E2E6C45-E4C6-4A2C-83CC-BF3CEC718880}"/>
              </a:ext>
            </a:extLst>
          </p:cNvPr>
          <p:cNvSpPr/>
          <p:nvPr/>
        </p:nvSpPr>
        <p:spPr>
          <a:xfrm>
            <a:off x="1128164" y="3803034"/>
            <a:ext cx="331853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dirty="0">
                <a:latin typeface="Imprint MT Shadow" panose="04020605060303030202" pitchFamily="82" charset="0"/>
              </a:rPr>
              <a:t>The End </a:t>
            </a:r>
            <a:endParaRPr lang="km-KH" sz="6000" dirty="0">
              <a:latin typeface="Imprint MT Shadow" panose="0402060506030303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748119"/>
      </p:ext>
    </p:extLst>
  </p:cSld>
  <p:clrMapOvr>
    <a:masterClrMapping/>
  </p:clrMapOvr>
</p:sld>
</file>

<file path=ppt/theme/theme1.xml><?xml version="1.0" encoding="utf-8"?>
<a:theme xmlns:a="http://schemas.openxmlformats.org/drawingml/2006/main" name="Formal Research Paper Slideshow by Slidesgo">
  <a:themeElements>
    <a:clrScheme name="Simple Light">
      <a:dk1>
        <a:srgbClr val="191919"/>
      </a:dk1>
      <a:lt1>
        <a:srgbClr val="FFFFFF"/>
      </a:lt1>
      <a:dk2>
        <a:srgbClr val="DDD9D5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4976</Words>
  <Application>Microsoft Office PowerPoint</Application>
  <PresentationFormat>On-screen Show (16:9)</PresentationFormat>
  <Paragraphs>510</Paragraphs>
  <Slides>64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6" baseType="lpstr">
      <vt:lpstr>Trebuchet MS</vt:lpstr>
      <vt:lpstr>Segoe UI Emoji</vt:lpstr>
      <vt:lpstr>Imprint MT Shadow</vt:lpstr>
      <vt:lpstr>Khmer CN Samlot</vt:lpstr>
      <vt:lpstr>Didact Gothic</vt:lpstr>
      <vt:lpstr>Arial</vt:lpstr>
      <vt:lpstr>Old Standard TT</vt:lpstr>
      <vt:lpstr>Khmer OS Muol Light</vt:lpstr>
      <vt:lpstr>Wingdings</vt:lpstr>
      <vt:lpstr>Khmer OS Muol</vt:lpstr>
      <vt:lpstr>DaunPenh</vt:lpstr>
      <vt:lpstr>Formal Research Paper Slideshow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Vireak Sien</dc:creator>
  <cp:lastModifiedBy>SIEN  VIREAK</cp:lastModifiedBy>
  <cp:revision>142</cp:revision>
  <dcterms:modified xsi:type="dcterms:W3CDTF">2024-05-20T13:57:09Z</dcterms:modified>
</cp:coreProperties>
</file>